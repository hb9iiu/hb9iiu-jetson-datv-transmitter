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orient="horz" pos="16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3812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48151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What is a Jetson Nano 2GB: NVIDIA's $59 AI learning kit from 2020, now end of life. Key point for DATV: the hardware H.264/H.265 video encoder, which feeds the ADALM-Pluto for QO-100.</a:t>
            </a:r>
            <a:endParaRPr/>
          </a:p>
        </p:txBody>
      </p:sp>
      <p:sp>
        <p:nvSpPr>
          <p:cNvPr id="1339571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97111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7492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Many of us have a Jetson Nano 2GB lying in a drawer - I did too, and never really got it working. This SD card image turns it into a DATV transmitter: flash it, connect a Pluto with Evariste's firmware, and you're ready. A USB camera is optional, a demo video is included, and you can upload your own clips from the web UI. Going on air takes three clicks: select a source, pick a free slot on the BATC spectrum, start stream.</a:t>
            </a:r>
            <a:endParaRPr/>
          </a:p>
        </p:txBody>
      </p:sp>
      <p:sp>
        <p:nvSpPr>
          <p:cNvPr id="474990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 link: https://drive.google.com/file/d/1KOO9mWcRhIP5yVT3PENrq5p7Ek5pGANZ/view?usp=sharing
Flash with Raspberry Pi Imager (Choose OS &gt; Use custom) onto a 32 GB microSD card. Tested and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7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8939" name="Text 0"/>
          <p:cNvSpPr txBox="1"/>
          <p:nvPr/>
        </p:nvSpPr>
        <p:spPr bwMode="auto">
          <a:xfrm>
            <a:off x="457200" y="92329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76B900"/>
                </a:solidFill>
                <a:latin typeface="Arial"/>
                <a:ea typeface="Arial"/>
                <a:cs typeface="Arial"/>
              </a:rPr>
              <a:t>WHAT IS A JETSON?  ·  NVIDIA, 2020</a:t>
            </a:r>
            <a:endParaRPr lang="en-US" sz="1100"/>
          </a:p>
        </p:txBody>
      </p:sp>
      <p:sp>
        <p:nvSpPr>
          <p:cNvPr id="131448763" name="Text 3"/>
          <p:cNvSpPr txBox="1"/>
          <p:nvPr/>
        </p:nvSpPr>
        <p:spPr bwMode="auto">
          <a:xfrm>
            <a:off x="457200" y="12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Jetson Nano 2GB</a:t>
            </a:r>
            <a:endParaRPr lang="en-US" sz="3600"/>
          </a:p>
        </p:txBody>
      </p:sp>
      <p:sp>
        <p:nvSpPr>
          <p:cNvPr id="1130198049" name="Text 4"/>
          <p:cNvSpPr txBox="1"/>
          <p:nvPr/>
        </p:nvSpPr>
        <p:spPr bwMode="auto"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A9B4C2"/>
                </a:solidFill>
                <a:latin typeface="Arial"/>
                <a:ea typeface="Arial"/>
                <a:cs typeface="Arial"/>
              </a:rPr>
              <a:t>A $59 mini computer built to teach AI and robotics. No longer sold, still very capable.</a:t>
            </a:r>
            <a:endParaRPr lang="en-US" sz="1600"/>
          </a:p>
        </p:txBody>
      </p:sp>
      <p:pic>
        <p:nvPicPr>
          <p:cNvPr id="1582658730" name="Image 0" descr="Jetson Nano developer kit boar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63701" y="1867266"/>
            <a:ext cx="2435475" cy="2160664"/>
          </a:xfrm>
          <a:prstGeom prst="rect">
            <a:avLst/>
          </a:prstGeom>
        </p:spPr>
      </p:pic>
      <p:sp>
        <p:nvSpPr>
          <p:cNvPr id="475922990" name="Shape 6"/>
          <p:cNvSpPr/>
          <p:nvPr/>
        </p:nvSpPr>
        <p:spPr bwMode="auto">
          <a:xfrm>
            <a:off x="457200" y="4187952"/>
            <a:ext cx="475488" cy="47548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83215842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6072" y="4306824"/>
            <a:ext cx="237744" cy="237744"/>
          </a:xfrm>
          <a:prstGeom prst="rect">
            <a:avLst/>
          </a:prstGeom>
        </p:spPr>
      </p:pic>
      <p:sp>
        <p:nvSpPr>
          <p:cNvPr id="306426829" name="Text 7"/>
          <p:cNvSpPr txBox="1"/>
          <p:nvPr/>
        </p:nvSpPr>
        <p:spPr bwMode="auto">
          <a:xfrm>
            <a:off x="1115568" y="4151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 use: DATV on QO-100</a:t>
            </a:r>
            <a:endParaRPr lang="en-US" sz="1500"/>
          </a:p>
        </p:txBody>
      </p:sp>
      <p:sp>
        <p:nvSpPr>
          <p:cNvPr id="964758575" name="Text 8"/>
          <p:cNvSpPr txBox="1"/>
          <p:nvPr/>
        </p:nvSpPr>
        <p:spPr bwMode="auto">
          <a:xfrm>
            <a:off x="1115568" y="4443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A9B4C2"/>
                </a:solidFill>
                <a:latin typeface="Arial"/>
                <a:ea typeface="Arial"/>
                <a:cs typeface="Arial"/>
              </a:rPr>
              <a:t>Its hardware H.265 encoder feeds an ADALM-Pluto</a:t>
            </a:r>
            <a:endParaRPr lang="en-US" sz="1150"/>
          </a:p>
        </p:txBody>
      </p:sp>
      <p:sp>
        <p:nvSpPr>
          <p:cNvPr id="229264940" name="Shape 9"/>
          <p:cNvSpPr/>
          <p:nvPr/>
        </p:nvSpPr>
        <p:spPr bwMode="auto">
          <a:xfrm>
            <a:off x="5029200" y="1965960"/>
            <a:ext cx="3657600" cy="2697480"/>
          </a:xfrm>
          <a:prstGeom prst="roundRect">
            <a:avLst>
              <a:gd name="adj" fmla="val 4068"/>
            </a:avLst>
          </a:prstGeom>
          <a:solidFill>
            <a:srgbClr val="1A2029"/>
          </a:solidFill>
          <a:ln w="12700">
            <a:solidFill>
              <a:srgbClr val="1A2029"/>
            </a:solidFill>
            <a:prstDash val="solid"/>
          </a:ln>
        </p:spPr>
      </p:sp>
      <p:sp>
        <p:nvSpPr>
          <p:cNvPr id="1014296889" name="Shape 10"/>
          <p:cNvSpPr/>
          <p:nvPr/>
        </p:nvSpPr>
        <p:spPr bwMode="auto">
          <a:xfrm>
            <a:off x="5230368" y="2130552"/>
            <a:ext cx="274320" cy="2743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24919986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294376" y="2194560"/>
            <a:ext cx="146304" cy="146304"/>
          </a:xfrm>
          <a:prstGeom prst="rect">
            <a:avLst/>
          </a:prstGeom>
        </p:spPr>
      </p:pic>
      <p:sp>
        <p:nvSpPr>
          <p:cNvPr id="1175610194" name="Text 11"/>
          <p:cNvSpPr txBox="1"/>
          <p:nvPr/>
        </p:nvSpPr>
        <p:spPr bwMode="auto">
          <a:xfrm>
            <a:off x="5623560" y="21305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CPU</a:t>
            </a:r>
            <a:endParaRPr lang="en-US" sz="1000"/>
          </a:p>
        </p:txBody>
      </p:sp>
      <p:sp>
        <p:nvSpPr>
          <p:cNvPr id="1779491398" name="Text 12"/>
          <p:cNvSpPr txBox="1"/>
          <p:nvPr/>
        </p:nvSpPr>
        <p:spPr bwMode="auto">
          <a:xfrm>
            <a:off x="6373368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4-core ARM Cortex-A57, 1.43 GHz</a:t>
            </a:r>
            <a:endParaRPr lang="en-US" sz="1050"/>
          </a:p>
        </p:txBody>
      </p:sp>
      <p:sp>
        <p:nvSpPr>
          <p:cNvPr id="1022821076" name="Shape 13"/>
          <p:cNvSpPr/>
          <p:nvPr/>
        </p:nvSpPr>
        <p:spPr bwMode="auto">
          <a:xfrm>
            <a:off x="5230368" y="2482596"/>
            <a:ext cx="274320" cy="2743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149272187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294376" y="2546604"/>
            <a:ext cx="146304" cy="146304"/>
          </a:xfrm>
          <a:prstGeom prst="rect">
            <a:avLst/>
          </a:prstGeom>
        </p:spPr>
      </p:pic>
      <p:sp>
        <p:nvSpPr>
          <p:cNvPr id="1948613389" name="Text 14"/>
          <p:cNvSpPr txBox="1"/>
          <p:nvPr/>
        </p:nvSpPr>
        <p:spPr bwMode="auto">
          <a:xfrm>
            <a:off x="5623560" y="248259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GPU</a:t>
            </a:r>
            <a:endParaRPr lang="en-US" sz="1000"/>
          </a:p>
        </p:txBody>
      </p:sp>
      <p:sp>
        <p:nvSpPr>
          <p:cNvPr id="555549655" name="Text 15"/>
          <p:cNvSpPr txBox="1"/>
          <p:nvPr/>
        </p:nvSpPr>
        <p:spPr bwMode="auto">
          <a:xfrm>
            <a:off x="6373368" y="24825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128-core NVIDIA Maxwell, CUDA</a:t>
            </a:r>
            <a:endParaRPr lang="en-US" sz="1050"/>
          </a:p>
        </p:txBody>
      </p:sp>
      <p:sp>
        <p:nvSpPr>
          <p:cNvPr id="1517058127" name="Shape 16"/>
          <p:cNvSpPr/>
          <p:nvPr/>
        </p:nvSpPr>
        <p:spPr bwMode="auto">
          <a:xfrm>
            <a:off x="5230368" y="2834640"/>
            <a:ext cx="274320" cy="2743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93333851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294376" y="2898648"/>
            <a:ext cx="146304" cy="146304"/>
          </a:xfrm>
          <a:prstGeom prst="rect">
            <a:avLst/>
          </a:prstGeom>
        </p:spPr>
      </p:pic>
      <p:sp>
        <p:nvSpPr>
          <p:cNvPr id="1708513468" name="Text 17"/>
          <p:cNvSpPr txBox="1"/>
          <p:nvPr/>
        </p:nvSpPr>
        <p:spPr bwMode="auto">
          <a:xfrm>
            <a:off x="5623560" y="28346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RAM</a:t>
            </a:r>
            <a:endParaRPr lang="en-US" sz="1000"/>
          </a:p>
        </p:txBody>
      </p:sp>
      <p:sp>
        <p:nvSpPr>
          <p:cNvPr id="1854448406" name="Text 18"/>
          <p:cNvSpPr txBox="1"/>
          <p:nvPr/>
        </p:nvSpPr>
        <p:spPr bwMode="auto">
          <a:xfrm>
            <a:off x="637336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2 GB LPDDR4, shared with GPU</a:t>
            </a:r>
            <a:endParaRPr lang="en-US" sz="1050"/>
          </a:p>
        </p:txBody>
      </p:sp>
      <p:sp>
        <p:nvSpPr>
          <p:cNvPr id="534893801" name="Shape 19"/>
          <p:cNvSpPr/>
          <p:nvPr/>
        </p:nvSpPr>
        <p:spPr bwMode="auto">
          <a:xfrm>
            <a:off x="5230368" y="3186684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345643879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294376" y="3250692"/>
            <a:ext cx="146304" cy="146304"/>
          </a:xfrm>
          <a:prstGeom prst="rect">
            <a:avLst/>
          </a:prstGeom>
        </p:spPr>
      </p:pic>
      <p:sp>
        <p:nvSpPr>
          <p:cNvPr id="1206746399" name="Text 20"/>
          <p:cNvSpPr txBox="1"/>
          <p:nvPr/>
        </p:nvSpPr>
        <p:spPr bwMode="auto">
          <a:xfrm>
            <a:off x="5623560" y="318668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3946"/>
                </a:solidFill>
                <a:latin typeface="Arial"/>
                <a:ea typeface="Arial"/>
                <a:cs typeface="Arial"/>
              </a:rPr>
              <a:t>VIDEO</a:t>
            </a:r>
            <a:endParaRPr lang="en-US" sz="1000"/>
          </a:p>
        </p:txBody>
      </p:sp>
      <p:sp>
        <p:nvSpPr>
          <p:cNvPr id="1297130842" name="Text 21"/>
          <p:cNvSpPr txBox="1"/>
          <p:nvPr/>
        </p:nvSpPr>
        <p:spPr bwMode="auto">
          <a:xfrm>
            <a:off x="6373368" y="31866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H.264 / H.265 hardware encoder</a:t>
            </a:r>
            <a:endParaRPr lang="en-US" sz="1050"/>
          </a:p>
        </p:txBody>
      </p:sp>
      <p:sp>
        <p:nvSpPr>
          <p:cNvPr id="138481524" name="Shape 22"/>
          <p:cNvSpPr/>
          <p:nvPr/>
        </p:nvSpPr>
        <p:spPr bwMode="auto">
          <a:xfrm>
            <a:off x="5230368" y="3538728"/>
            <a:ext cx="274320" cy="2743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1167641361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294376" y="3602735"/>
            <a:ext cx="146304" cy="146304"/>
          </a:xfrm>
          <a:prstGeom prst="rect">
            <a:avLst/>
          </a:prstGeom>
        </p:spPr>
      </p:pic>
      <p:sp>
        <p:nvSpPr>
          <p:cNvPr id="1889368996" name="Text 23"/>
          <p:cNvSpPr txBox="1"/>
          <p:nvPr/>
        </p:nvSpPr>
        <p:spPr bwMode="auto">
          <a:xfrm>
            <a:off x="5623560" y="35387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I/O</a:t>
            </a:r>
            <a:endParaRPr lang="en-US" sz="1000"/>
          </a:p>
        </p:txBody>
      </p:sp>
      <p:sp>
        <p:nvSpPr>
          <p:cNvPr id="365850508" name="Text 24"/>
          <p:cNvSpPr txBox="1"/>
          <p:nvPr/>
        </p:nvSpPr>
        <p:spPr bwMode="auto">
          <a:xfrm>
            <a:off x="6373368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Gigabit LAN, 3× USB, HDMI</a:t>
            </a:r>
            <a:endParaRPr lang="en-US" sz="1050"/>
          </a:p>
        </p:txBody>
      </p:sp>
      <p:sp>
        <p:nvSpPr>
          <p:cNvPr id="1153012981" name="Shape 25"/>
          <p:cNvSpPr/>
          <p:nvPr/>
        </p:nvSpPr>
        <p:spPr bwMode="auto">
          <a:xfrm>
            <a:off x="5230368" y="3890772"/>
            <a:ext cx="274320" cy="2743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2039424408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5294376" y="3954780"/>
            <a:ext cx="146304" cy="146304"/>
          </a:xfrm>
          <a:prstGeom prst="rect">
            <a:avLst/>
          </a:prstGeom>
        </p:spPr>
      </p:pic>
      <p:sp>
        <p:nvSpPr>
          <p:cNvPr id="225989885" name="Text 26"/>
          <p:cNvSpPr txBox="1"/>
          <p:nvPr/>
        </p:nvSpPr>
        <p:spPr bwMode="auto">
          <a:xfrm>
            <a:off x="5623560" y="38907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POWER</a:t>
            </a:r>
            <a:endParaRPr lang="en-US" sz="1000"/>
          </a:p>
        </p:txBody>
      </p:sp>
      <p:sp>
        <p:nvSpPr>
          <p:cNvPr id="1746286519" name="Text 27"/>
          <p:cNvSpPr txBox="1"/>
          <p:nvPr/>
        </p:nvSpPr>
        <p:spPr bwMode="auto">
          <a:xfrm>
            <a:off x="6373368" y="38907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5 V USB-C, about 5–10 W</a:t>
            </a:r>
            <a:endParaRPr lang="en-US" sz="1050"/>
          </a:p>
        </p:txBody>
      </p:sp>
      <p:sp>
        <p:nvSpPr>
          <p:cNvPr id="1543492490" name="Shape 28"/>
          <p:cNvSpPr/>
          <p:nvPr/>
        </p:nvSpPr>
        <p:spPr bwMode="auto">
          <a:xfrm>
            <a:off x="5230368" y="4242816"/>
            <a:ext cx="274320" cy="27432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363447515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5294376" y="4306824"/>
            <a:ext cx="146304" cy="146304"/>
          </a:xfrm>
          <a:prstGeom prst="rect">
            <a:avLst/>
          </a:prstGeom>
        </p:spPr>
      </p:pic>
      <p:sp>
        <p:nvSpPr>
          <p:cNvPr id="1835408207" name="Text 29"/>
          <p:cNvSpPr txBox="1"/>
          <p:nvPr/>
        </p:nvSpPr>
        <p:spPr bwMode="auto">
          <a:xfrm>
            <a:off x="5623560" y="424281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OS</a:t>
            </a:r>
            <a:endParaRPr lang="en-US" sz="1000"/>
          </a:p>
        </p:txBody>
      </p:sp>
      <p:sp>
        <p:nvSpPr>
          <p:cNvPr id="2050364867" name="Text 30"/>
          <p:cNvSpPr txBox="1"/>
          <p:nvPr/>
        </p:nvSpPr>
        <p:spPr bwMode="auto">
          <a:xfrm>
            <a:off x="6373368" y="4242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Ubuntu 18.04 + JetPack 4.6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453181" name="Text 0"/>
          <p:cNvSpPr txBox="1"/>
          <p:nvPr/>
        </p:nvSpPr>
        <p:spPr bwMode="auto">
          <a:xfrm>
            <a:off x="457200" y="92329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76B900"/>
                </a:solidFill>
                <a:latin typeface="Arial"/>
                <a:ea typeface="Arial"/>
                <a:cs typeface="Arial"/>
              </a:rPr>
              <a:t>READY-TO-FLASH SD CARD IMAGE  ·  HB9IIU</a:t>
            </a:r>
            <a:endParaRPr lang="en-US" sz="1100"/>
          </a:p>
        </p:txBody>
      </p:sp>
      <p:sp>
        <p:nvSpPr>
          <p:cNvPr id="1171288099" name="Text 3"/>
          <p:cNvSpPr txBox="1"/>
          <p:nvPr/>
        </p:nvSpPr>
        <p:spPr bwMode="auto">
          <a:xfrm>
            <a:off x="457200" y="12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Got a Jetson Nano 2GB in a drawer?</a:t>
            </a:r>
            <a:endParaRPr lang="en-US" sz="3600"/>
          </a:p>
        </p:txBody>
      </p:sp>
      <p:sp>
        <p:nvSpPr>
          <p:cNvPr id="608073458" name="Text 4"/>
          <p:cNvSpPr txBox="1"/>
          <p:nvPr/>
        </p:nvSpPr>
        <p:spPr bwMode="auto"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A9B4C2"/>
                </a:solidFill>
                <a:latin typeface="Arial"/>
                <a:ea typeface="Arial"/>
                <a:cs typeface="Arial"/>
              </a:rPr>
              <a:t>Never managed to make it work? Turn it into a DATV transmitter.</a:t>
            </a:r>
            <a:endParaRPr lang="en-US" sz="1600"/>
          </a:p>
        </p:txBody>
      </p:sp>
      <p:sp>
        <p:nvSpPr>
          <p:cNvPr id="1591324062" name="Shape 5"/>
          <p:cNvSpPr/>
          <p:nvPr/>
        </p:nvSpPr>
        <p:spPr bwMode="auto">
          <a:xfrm>
            <a:off x="457200" y="2011680"/>
            <a:ext cx="475488" cy="47548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44503648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6072" y="2130552"/>
            <a:ext cx="237744" cy="237744"/>
          </a:xfrm>
          <a:prstGeom prst="rect">
            <a:avLst/>
          </a:prstGeom>
        </p:spPr>
      </p:pic>
      <p:sp>
        <p:nvSpPr>
          <p:cNvPr id="1427074780" name="Text 6"/>
          <p:cNvSpPr txBox="1"/>
          <p:nvPr/>
        </p:nvSpPr>
        <p:spPr bwMode="auto">
          <a:xfrm>
            <a:off x="1115568" y="1975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 out of the box with a Pluto</a:t>
            </a:r>
            <a:endParaRPr lang="en-US" sz="1500"/>
          </a:p>
        </p:txBody>
      </p:sp>
      <p:sp>
        <p:nvSpPr>
          <p:cNvPr id="63269664" name="Text 7"/>
          <p:cNvSpPr txBox="1"/>
          <p:nvPr/>
        </p:nvSpPr>
        <p:spPr bwMode="auto">
          <a:xfrm>
            <a:off x="1115568" y="2267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A9B4C2"/>
                </a:solidFill>
                <a:latin typeface="Arial"/>
                <a:ea typeface="Arial"/>
                <a:cs typeface="Arial"/>
              </a:rPr>
              <a:t>ADALM-Pluto running Evariste's (F5OEO) firmware</a:t>
            </a:r>
            <a:endParaRPr lang="en-US" sz="1150"/>
          </a:p>
        </p:txBody>
      </p:sp>
      <p:sp>
        <p:nvSpPr>
          <p:cNvPr id="274070104" name="Shape 8"/>
          <p:cNvSpPr/>
          <p:nvPr/>
        </p:nvSpPr>
        <p:spPr bwMode="auto">
          <a:xfrm>
            <a:off x="457200" y="2724911"/>
            <a:ext cx="475488" cy="47548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104645286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6072" y="2843784"/>
            <a:ext cx="237744" cy="237744"/>
          </a:xfrm>
          <a:prstGeom prst="rect">
            <a:avLst/>
          </a:prstGeom>
        </p:spPr>
      </p:pic>
      <p:sp>
        <p:nvSpPr>
          <p:cNvPr id="67006716" name="Text 9"/>
          <p:cNvSpPr txBox="1"/>
          <p:nvPr/>
        </p:nvSpPr>
        <p:spPr bwMode="auto">
          <a:xfrm>
            <a:off x="1115568" y="2688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USB camera is optional</a:t>
            </a:r>
            <a:endParaRPr lang="en-US" sz="1500"/>
          </a:p>
        </p:txBody>
      </p:sp>
      <p:sp>
        <p:nvSpPr>
          <p:cNvPr id="522421698" name="Text 10"/>
          <p:cNvSpPr txBox="1"/>
          <p:nvPr/>
        </p:nvSpPr>
        <p:spPr bwMode="auto">
          <a:xfrm>
            <a:off x="1115568" y="29809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A9B4C2"/>
                </a:solidFill>
                <a:latin typeface="Arial"/>
                <a:ea typeface="Arial"/>
                <a:cs typeface="Arial"/>
              </a:rPr>
              <a:t>Plug in a webcam for live pictures, or run without one</a:t>
            </a:r>
            <a:endParaRPr lang="en-US" sz="1150"/>
          </a:p>
        </p:txBody>
      </p:sp>
      <p:sp>
        <p:nvSpPr>
          <p:cNvPr id="1388243818" name="Shape 11"/>
          <p:cNvSpPr/>
          <p:nvPr/>
        </p:nvSpPr>
        <p:spPr bwMode="auto">
          <a:xfrm>
            <a:off x="457200" y="3438144"/>
            <a:ext cx="475488" cy="47548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35121018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6072" y="3557016"/>
            <a:ext cx="237744" cy="237744"/>
          </a:xfrm>
          <a:prstGeom prst="rect">
            <a:avLst/>
          </a:prstGeom>
        </p:spPr>
      </p:pic>
      <p:sp>
        <p:nvSpPr>
          <p:cNvPr id="483304457" name="Text 12"/>
          <p:cNvSpPr txBox="1"/>
          <p:nvPr/>
        </p:nvSpPr>
        <p:spPr bwMode="auto">
          <a:xfrm>
            <a:off x="1115568" y="3401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video included</a:t>
            </a:r>
            <a:endParaRPr lang="en-US" sz="1500"/>
          </a:p>
        </p:txBody>
      </p:sp>
      <p:sp>
        <p:nvSpPr>
          <p:cNvPr id="1204653998" name="Text 13"/>
          <p:cNvSpPr txBox="1"/>
          <p:nvPr/>
        </p:nvSpPr>
        <p:spPr bwMode="auto">
          <a:xfrm>
            <a:off x="1115568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A9B4C2"/>
                </a:solidFill>
                <a:latin typeface="Arial"/>
                <a:ea typeface="Arial"/>
                <a:cs typeface="Arial"/>
              </a:rPr>
              <a:t>Something to transmit from the very first boot</a:t>
            </a:r>
            <a:endParaRPr lang="en-US" sz="1150"/>
          </a:p>
        </p:txBody>
      </p:sp>
      <p:sp>
        <p:nvSpPr>
          <p:cNvPr id="1294520056" name="Shape 14"/>
          <p:cNvSpPr/>
          <p:nvPr/>
        </p:nvSpPr>
        <p:spPr bwMode="auto">
          <a:xfrm>
            <a:off x="457200" y="4151376"/>
            <a:ext cx="475488" cy="475488"/>
          </a:xfrm>
          <a:prstGeom prst="ellipse">
            <a:avLst/>
          </a:prstGeom>
          <a:solidFill>
            <a:srgbClr val="76B900"/>
          </a:solidFill>
          <a:ln/>
        </p:spPr>
      </p:sp>
      <p:pic>
        <p:nvPicPr>
          <p:cNvPr id="488035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76072" y="4270248"/>
            <a:ext cx="237744" cy="237744"/>
          </a:xfrm>
          <a:prstGeom prst="rect">
            <a:avLst/>
          </a:prstGeom>
        </p:spPr>
      </p:pic>
      <p:sp>
        <p:nvSpPr>
          <p:cNvPr id="1717664560" name="Text 15"/>
          <p:cNvSpPr txBox="1"/>
          <p:nvPr/>
        </p:nvSpPr>
        <p:spPr bwMode="auto">
          <a:xfrm>
            <a:off x="1115568" y="4114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your own videos</a:t>
            </a:r>
            <a:endParaRPr lang="en-US" sz="1500"/>
          </a:p>
        </p:txBody>
      </p:sp>
      <p:sp>
        <p:nvSpPr>
          <p:cNvPr id="1463711315" name="Text 16"/>
          <p:cNvSpPr txBox="1"/>
          <p:nvPr/>
        </p:nvSpPr>
        <p:spPr bwMode="auto">
          <a:xfrm>
            <a:off x="1115568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A9B4C2"/>
                </a:solidFill>
                <a:latin typeface="Arial"/>
                <a:ea typeface="Arial"/>
                <a:cs typeface="Arial"/>
              </a:rPr>
              <a:t>Upload more clips from any browser via the web UI</a:t>
            </a:r>
            <a:endParaRPr lang="en-US" sz="1150"/>
          </a:p>
        </p:txBody>
      </p:sp>
      <p:sp>
        <p:nvSpPr>
          <p:cNvPr id="796221686" name="Shape 17"/>
          <p:cNvSpPr/>
          <p:nvPr/>
        </p:nvSpPr>
        <p:spPr bwMode="auto">
          <a:xfrm>
            <a:off x="5577840" y="1965960"/>
            <a:ext cx="3108960" cy="2697480"/>
          </a:xfrm>
          <a:prstGeom prst="roundRect">
            <a:avLst>
              <a:gd name="adj" fmla="val 5085"/>
            </a:avLst>
          </a:prstGeom>
          <a:solidFill>
            <a:srgbClr val="1A2029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86998456" name="Text 18"/>
          <p:cNvSpPr txBox="1"/>
          <p:nvPr/>
        </p:nvSpPr>
        <p:spPr bwMode="auto">
          <a:xfrm>
            <a:off x="5852160" y="20756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E63946"/>
                </a:solidFill>
                <a:latin typeface="Arial"/>
                <a:ea typeface="Arial"/>
                <a:cs typeface="Arial"/>
              </a:rPr>
              <a:t>3</a:t>
            </a: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clicks</a:t>
            </a:r>
            <a:endParaRPr lang="en-US" sz="6000"/>
          </a:p>
        </p:txBody>
      </p:sp>
      <p:sp>
        <p:nvSpPr>
          <p:cNvPr id="697107769" name="Text 19"/>
          <p:cNvSpPr txBox="1"/>
          <p:nvPr/>
        </p:nvSpPr>
        <p:spPr bwMode="auto">
          <a:xfrm>
            <a:off x="5852160" y="2898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A9B4C2"/>
                </a:solidFill>
                <a:latin typeface="Arial"/>
                <a:ea typeface="Arial"/>
                <a:cs typeface="Arial"/>
              </a:rPr>
              <a:t>to go on air</a:t>
            </a:r>
            <a:endParaRPr lang="en-US" sz="1500"/>
          </a:p>
        </p:txBody>
      </p:sp>
      <p:sp>
        <p:nvSpPr>
          <p:cNvPr id="1810961795" name="Shape 20"/>
          <p:cNvSpPr/>
          <p:nvPr/>
        </p:nvSpPr>
        <p:spPr bwMode="auto">
          <a:xfrm>
            <a:off x="5852160" y="3337560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04583470" name="Text 21"/>
          <p:cNvSpPr txBox="1"/>
          <p:nvPr/>
        </p:nvSpPr>
        <p:spPr bwMode="auto">
          <a:xfrm>
            <a:off x="585216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1100"/>
          </a:p>
        </p:txBody>
      </p:sp>
      <p:sp>
        <p:nvSpPr>
          <p:cNvPr id="1722827656" name="Text 22"/>
          <p:cNvSpPr txBox="1"/>
          <p:nvPr/>
        </p:nvSpPr>
        <p:spPr bwMode="auto">
          <a:xfrm>
            <a:off x="6263640" y="32826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source</a:t>
            </a:r>
            <a:endParaRPr lang="en-US" sz="1200"/>
          </a:p>
        </p:txBody>
      </p:sp>
      <p:sp>
        <p:nvSpPr>
          <p:cNvPr id="2072760729" name="Shape 23"/>
          <p:cNvSpPr/>
          <p:nvPr/>
        </p:nvSpPr>
        <p:spPr bwMode="auto">
          <a:xfrm>
            <a:off x="5852160" y="3739896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94580544" name="Text 24"/>
          <p:cNvSpPr txBox="1"/>
          <p:nvPr/>
        </p:nvSpPr>
        <p:spPr bwMode="auto">
          <a:xfrm>
            <a:off x="585216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100"/>
          </a:p>
        </p:txBody>
      </p:sp>
      <p:sp>
        <p:nvSpPr>
          <p:cNvPr id="2064363564" name="Text 25"/>
          <p:cNvSpPr txBox="1"/>
          <p:nvPr/>
        </p:nvSpPr>
        <p:spPr bwMode="auto">
          <a:xfrm>
            <a:off x="6263640" y="3685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Pick a free BATC slot</a:t>
            </a:r>
            <a:endParaRPr lang="en-US" sz="1200"/>
          </a:p>
        </p:txBody>
      </p:sp>
      <p:sp>
        <p:nvSpPr>
          <p:cNvPr id="1040595810" name="Shape 26"/>
          <p:cNvSpPr/>
          <p:nvPr/>
        </p:nvSpPr>
        <p:spPr bwMode="auto">
          <a:xfrm>
            <a:off x="5852160" y="4142232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10987264" name="Text 27"/>
          <p:cNvSpPr txBox="1"/>
          <p:nvPr/>
        </p:nvSpPr>
        <p:spPr bwMode="auto">
          <a:xfrm>
            <a:off x="585216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  <p:sp>
        <p:nvSpPr>
          <p:cNvPr id="726657826" name="Text 28"/>
          <p:cNvSpPr txBox="1"/>
          <p:nvPr/>
        </p:nvSpPr>
        <p:spPr bwMode="auto">
          <a:xfrm>
            <a:off x="6263640" y="4087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stream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SD card image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23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DOWNLOAD  ·  RASPBERRY PI IMAGER  ·  32 GB CARD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code, flash the card, boot the Jetson.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75488" cy="47548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305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9751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image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2267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code: jetson.img.xz, about 5.6 GB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724912"/>
            <a:ext cx="475488" cy="47548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8437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26883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32 GB microSD card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15568" y="2980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and working on a fresh 32 GB card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438144"/>
            <a:ext cx="475488" cy="47548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55701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3401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with Raspberry Pi Imager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" y="36941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OS › Use custom › jetson.img.xz (no unzip)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4151376"/>
            <a:ext cx="475488" cy="47548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427024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15568" y="4114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and open the web UI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115568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up, then browse to http://jetson-nano.local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577840" y="1965960"/>
            <a:ext cx="3108960" cy="2697480"/>
          </a:xfrm>
          <a:prstGeom prst="roundRect">
            <a:avLst>
              <a:gd name="adj" fmla="val 4068"/>
            </a:avLst>
          </a:prstGeom>
          <a:solidFill>
            <a:srgbClr val="1A2029"/>
          </a:solidFill>
          <a:ln w="12700">
            <a:solidFill>
              <a:srgbClr val="1A202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95060" y="2121408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4" descr="QR code: SD card image download on Google Driv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636" y="2157984"/>
            <a:ext cx="1801368" cy="18013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778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download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5577840" y="4370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 ·  jetson.img.xz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8202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On-screen Show (16:9)</PresentationFormat>
  <Paragraphs>57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Jetson Nano DATV image</dc:title>
  <dc:subject>PptxGenJS Presentation</dc:subject>
  <dc:creator>PptxGenJS</dc:creator>
  <cp:lastModifiedBy>Staempfli,Daniel Jean,CH-VEVEY</cp:lastModifiedBy>
  <cp:revision>7</cp:revision>
  <dcterms:created xsi:type="dcterms:W3CDTF">2026-09-27T08:58:05Z</dcterms:created>
  <dcterms:modified xsi:type="dcterms:W3CDTF">2026-09-28T12:49:18Z</dcterms:modified>
</cp:coreProperties>
</file>