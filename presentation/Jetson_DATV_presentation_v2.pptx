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5"/>
  </p:notesMasterIdLst>
  <p:sldIdLst>
    <p:sldId id="256" r:id="rId4"/>
    <p:sldId id="257" r:id="rId5"/>
    <p:sldId id="258" r:id="rId6"/>
    <p:sldId id="259" r:id="rId7"/>
    <p:sldId id="260" r:id="rId8"/>
    <p:sldId id="261" r:id="rId9"/>
    <p:sldId id="262" r:id="rId10"/>
    <p:sldId id="263" r:id="rId11"/>
    <p:sldId id="264" r:id="rId12"/>
    <p:sldId id="265" r:id="rId13"/>
    <p:sldId id="266" r:id="rId14"/>
  </p:sldIdLst>
  <p:sldSz cx="9144000" cy="5143500" type="screen16x9"/>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2880"/>
        <p:guide pos="1620" orient="horz"/>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tableStyles" Target="tableStyles.xml"/><Relationship Id="rId1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756461" name="Slide Image Placeholder 1"/>
          <p:cNvSpPr>
            <a:spLocks noChangeAspect="1" noGrp="1" noRot="1"/>
          </p:cNvSpPr>
          <p:nvPr>
            <p:ph type="sldImg"/>
          </p:nvPr>
        </p:nvSpPr>
        <p:spPr bwMode="auto"/>
      </p:sp>
      <p:sp>
        <p:nvSpPr>
          <p:cNvPr id="493998093" name="Notes Placeholder 2"/>
          <p:cNvSpPr>
            <a:spLocks noGrp="1"/>
          </p:cNvSpPr>
          <p:nvPr>
            <p:ph type="body" idx="1"/>
          </p:nvPr>
        </p:nvSpPr>
        <p:spPr bwMode="auto"/>
        <p:txBody>
          <a:bodyPr/>
          <a:lstStyle/>
          <a:p>
            <a:pPr>
              <a:defRPr/>
            </a:pPr>
            <a:r>
              <a:rPr lang="en-US"/>
              <a:t>What is a Jetson Nano 2GB: NVIDIA's $60 AI learning kit from 2020, now end of life. Key point for DATV: the hardware H.264/H.265 video encoder, which feeds the ADALM-Pluto for QO-100.</a:t>
            </a:r>
            <a:endParaRPr/>
          </a:p>
        </p:txBody>
      </p:sp>
      <p:sp>
        <p:nvSpPr>
          <p:cNvPr id="1967234007"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53798263" name="Slide Image Placeholder 1"/>
          <p:cNvSpPr>
            <a:spLocks noChangeAspect="1" noGrp="1" noRot="1"/>
          </p:cNvSpPr>
          <p:nvPr>
            <p:ph type="sldImg"/>
          </p:nvPr>
        </p:nvSpPr>
        <p:spPr bwMode="auto"/>
      </p:sp>
      <p:sp>
        <p:nvSpPr>
          <p:cNvPr id="462083111" name="Notes Placeholder 2"/>
          <p:cNvSpPr>
            <a:spLocks noGrp="1"/>
          </p:cNvSpPr>
          <p:nvPr>
            <p:ph type="body" idx="1"/>
          </p:nvPr>
        </p:nvSpPr>
        <p:spPr bwMode="auto"/>
        <p:txBody>
          <a:bodyPr/>
          <a:lstStyle/>
          <a:p>
            <a:pPr>
              <a:defRPr/>
            </a:pPr>
            <a:r>
              <a:rPr lang="en-US"/>
              <a:t>Many of us have a Jetson Nano 2GB lying in a drawer - I did too, and never really got it working. This SD card image turns it into a DATV transmitter: flash it, connect a Pluto with Evariste's firmware, and you're ready. A USB camera is optional, a demo video is included, and you can upload your own clips from the web UI. Going on air takes three clicks: select a source, pick a free slot on the BATC spectrum, start stream.</a:t>
            </a:r>
            <a:endParaRPr/>
          </a:p>
        </p:txBody>
      </p:sp>
      <p:sp>
        <p:nvSpPr>
          <p:cNvPr id="1099400334"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0431061" name="Notes Placeholder 2"/>
          <p:cNvSpPr>
            <a:spLocks noGrp="1"/>
          </p:cNvSpPr>
          <p:nvPr>
            <p:ph type="body" idx="1"/>
          </p:nvPr>
        </p:nvSpPr>
        <p:spPr bwMode="auto"/>
        <p:txBody>
          <a:bodyPr/>
          <a:lstStyle/>
          <a:p>
            <a:pPr>
              <a:defRPr/>
            </a:pPr>
            <a:r>
              <a:rPr/>
              <a:t>The whole station is one web app with five pages, reachable from any browser on the local network. The header always shows whether the Pluto is connected and whether OpenTuner is online.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41141343" name="Notes Placeholder 2"/>
          <p:cNvSpPr>
            <a:spLocks noGrp="1"/>
          </p:cNvSpPr>
          <p:nvPr>
            <p:ph type="body" idx="1"/>
          </p:nvPr>
        </p:nvSpPr>
        <p:spPr bwMode="auto"/>
        <p:txBody>
          <a:bodyPr/>
          <a:lstStyle/>
          <a:p>
            <a:pPr>
              <a:defRPr/>
            </a:pPr>
            <a:r>
              <a:rPr/>
              <a:t>The Home page follows the three cards: 1 select a source, 2 click a free green slot on the live BATC wideband spectrum and choose symbol rate and FEC, 3 start the stream and raise TX power while watching the local Pluto RX spectrum. SR 333 and FEC 3/4 are good defaults.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68626363" name="Notes Placeholder 2"/>
          <p:cNvSpPr>
            <a:spLocks noGrp="1"/>
          </p:cNvSpPr>
          <p:nvPr>
            <p:ph type="body" idx="1"/>
          </p:nvPr>
        </p:nvSpPr>
        <p:spPr bwMode="auto"/>
        <p:txBody>
          <a:bodyPr/>
          <a:lstStyle/>
          <a:p>
            <a:pPr>
              <a:defRPr/>
            </a:pPr>
            <a:r>
              <a:rPr/>
              <a:t>Three kinds of source. Testcard: still cards with a tone, or the live SBB station clock showing callsign and locator. Camera: any USB webcam with its microphone or another audio input. Video: clips prepared in the Video Library; a demo clip is included. Camera and Video can carry a top banner, a scrolling marquee and the live callsign/clock bottom banner.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6730710" name="Notes Placeholder 2"/>
          <p:cNvSpPr>
            <a:spLocks noGrp="1"/>
          </p:cNvSpPr>
          <p:nvPr>
            <p:ph type="body" idx="1"/>
          </p:nvPr>
        </p:nvSpPr>
        <p:spPr bwMode="auto"/>
        <p:txBody>
          <a:bodyPr/>
          <a:lstStyle/>
          <a:p>
            <a:pPr>
              <a:defRPr/>
            </a:pPr>
            <a:r>
              <a:rPr/>
              <a:t>While transmitting, card 1 becomes the On-air monitor: your own signal received back through QO-100 by OpenTuner, with margin, MER and lock. The local Pluto RX spectrum shows the Pluto really transmits. The optional PTT relay (physical pin 18) switches the power amplifier: you switch it on once the local spectrum looks stable, because the Pluto can spike at start. It switches off automatically when the stream stops. The Pluto's own frequency error is measured on your signal and applied from the next start.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158328" name="Notes Placeholder 2"/>
          <p:cNvSpPr>
            <a:spLocks noGrp="1"/>
          </p:cNvSpPr>
          <p:nvPr>
            <p:ph type="body" idx="1"/>
          </p:nvPr>
        </p:nvSpPr>
        <p:spPr bwMode="auto"/>
        <p:txBody>
          <a:bodyPr/>
          <a:lstStyle/>
          <a:p>
            <a:pPr>
              <a:defRPr/>
            </a:pPr>
            <a:r>
              <a:rPr/>
              <a:t>Optional: a MiniTiouner with the modified OpenTuner sends received video and receiver data to the Jetson. On the RX page, click a signal on the spectrum to tune. On every stream start OpenTuner is retuned to your own signal. When locked on the beacon, the LNB frequency correction calibrates itself and follows drift with temperature.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48212552" name="Notes Placeholder 2"/>
          <p:cNvSpPr>
            <a:spLocks noGrp="1"/>
          </p:cNvSpPr>
          <p:nvPr>
            <p:ph type="body" idx="1"/>
          </p:nvPr>
        </p:nvSpPr>
        <p:spPr bwMode="auto"/>
        <p:txBody>
          <a:bodyPr/>
          <a:lstStyle/>
          <a:p>
            <a:pPr>
              <a:defRPr/>
            </a:pPr>
            <a:r>
              <a:rPr/>
              <a:t>The Video Library takes almost any video file from the browser, up to 8 GiB, and prepares it for DATV: high-quality H.264 at 1280x720, 25 fps, one at a time. Files live on a USB drive, can be previewed and deleted, and appear under Video on the Home page once ready. Live CPU, memory, temperature and free-space tiles show how the Jetson is doing.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3612606" name="Notes Placeholder 2"/>
          <p:cNvSpPr>
            <a:spLocks noGrp="1"/>
          </p:cNvSpPr>
          <p:nvPr>
            <p:ph type="body" idx="1"/>
          </p:nvPr>
        </p:nvSpPr>
        <p:spPr bwMode="auto"/>
        <p:txBody>
          <a:bodyPr/>
          <a:lstStyle/>
          <a:p>
            <a:pPr>
              <a:defRPr/>
            </a:pPr>
            <a:r>
              <a:rPr/>
              <a:t>Setup holds everything you set once: the callsign (pushed to the Pluto, which reboots), the overlay texts, OpenTuner auto-tune with LNB and TX frequency correction, the USB drive used for videos, and a restart button for the app.</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44061591" name="Notes Placeholder 2"/>
          <p:cNvSpPr>
            <a:spLocks noGrp="1"/>
          </p:cNvSpPr>
          <p:nvPr>
            <p:ph type="body" idx="1"/>
          </p:nvPr>
        </p:nvSpPr>
        <p:spPr bwMode="auto"/>
        <p:txBody>
          <a:bodyPr/>
          <a:lstStyle/>
          <a:p>
            <a:pPr>
              <a:defRPr/>
            </a:pPr>
            <a:r>
              <a:rPr/>
              <a:t>A full Help page is built in: quick start matching the Home cards, a before-you-start checklist, PTT relay wiring, how to add videos and set up OpenTuner, troubleshooting, and good operating practice on QO-100.</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3287331" name="Slide Image Placeholder 1"/>
          <p:cNvSpPr>
            <a:spLocks noChangeAspect="1" noGrp="1" noRot="1"/>
          </p:cNvSpPr>
          <p:nvPr>
            <p:ph type="sldImg"/>
          </p:nvPr>
        </p:nvSpPr>
        <p:spPr bwMode="auto"/>
      </p:sp>
      <p:sp>
        <p:nvSpPr>
          <p:cNvPr id="1379345204" name="Notes Placeholder 2"/>
          <p:cNvSpPr>
            <a:spLocks noGrp="1"/>
          </p:cNvSpPr>
          <p:nvPr>
            <p:ph type="body" idx="1"/>
          </p:nvPr>
        </p:nvSpPr>
        <p:spPr bwMode="auto"/>
        <p:txBody>
          <a:bodyPr/>
          <a:lstStyle/>
          <a:p>
            <a:pPr>
              <a:defRPr/>
            </a:pPr>
            <a:r>
              <a:rPr lang="en-US"/>
              <a:t>Project page and latest image: https://github.com/HB9IIU/HB9IIU-Jetson-DATV-transmitter</a:t>
            </a:r>
            <a:br>
              <a:rPr lang="en-US"/>
            </a:br>
            <a:r>
              <a:rPr lang="en-US"/>
              <a:t>Flash with Raspberry Pi Imager (Choose OS &gt; Use custom) onto a 32 GB microSD card. Tested and working.</a:t>
            </a:r>
            <a:endParaRPr/>
          </a:p>
        </p:txBody>
      </p:sp>
      <p:sp>
        <p:nvSpPr>
          <p:cNvPr id="2124605805"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35.png"/><Relationship Id="rId5" Type="http://schemas.openxmlformats.org/officeDocument/2006/relationships/image" Target="../media/image31.png"/><Relationship Id="rId6" Type="http://schemas.openxmlformats.org/officeDocument/2006/relationships/image" Target="../media/image36.png"/><Relationship Id="rId7" Type="http://schemas.openxmlformats.org/officeDocument/2006/relationships/image" Target="../media/image3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29.png"/><Relationship Id="rId7" Type="http://schemas.openxmlformats.org/officeDocument/2006/relationships/image" Target="../media/image40.png"/><Relationship Id="rId8" Type="http://schemas.openxmlformats.org/officeDocument/2006/relationships/image" Target="../media/image4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36.png"/><Relationship Id="rId6" Type="http://schemas.openxmlformats.org/officeDocument/2006/relationships/image" Target="../media/image40.png"/><Relationship Id="rId7" Type="http://schemas.openxmlformats.org/officeDocument/2006/relationships/image" Target="../media/image44.png"/><Relationship Id="rId8" Type="http://schemas.openxmlformats.org/officeDocument/2006/relationships/image" Target="../media/image4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23.png"/><Relationship Id="rId8" Type="http://schemas.openxmlformats.org/officeDocument/2006/relationships/image" Target="../media/image5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E1217"/>
        </a:solidFill>
      </p:bgPr>
    </p:bg>
    <p:spTree>
      <p:nvGrpSpPr>
        <p:cNvPr id="1" name=""/>
        <p:cNvGrpSpPr/>
        <p:nvPr/>
      </p:nvGrpSpPr>
      <p:grpSpPr bwMode="auto">
        <a:xfrm>
          <a:off x="0" y="0"/>
          <a:ext cx="0" cy="0"/>
          <a:chOff x="0" y="0"/>
          <a:chExt cx="0" cy="0"/>
        </a:xfrm>
      </p:grpSpPr>
      <p:sp>
        <p:nvSpPr>
          <p:cNvPr id="514569626" name="Text 0"/>
          <p:cNvSpPr txBox="1"/>
          <p:nvPr/>
        </p:nvSpPr>
        <p:spPr bwMode="auto">
          <a:xfrm>
            <a:off x="457200" y="923290"/>
            <a:ext cx="5943600" cy="274320"/>
          </a:xfrm>
          <a:prstGeom prst="rect">
            <a:avLst/>
          </a:prstGeom>
          <a:noFill/>
          <a:ln/>
        </p:spPr>
        <p:txBody>
          <a:bodyPr wrap="square" lIns="0" tIns="0" rIns="0" bIns="0" rtlCol="0" anchor="ctr"/>
          <a:lstStyle/>
          <a:p>
            <a:pPr marL="0" indent="0">
              <a:buNone/>
              <a:defRPr/>
            </a:pPr>
            <a:r>
              <a:rPr lang="en-US" sz="1100" b="1" spc="200">
                <a:solidFill>
                  <a:srgbClr val="76B900"/>
                </a:solidFill>
                <a:latin typeface="Arial"/>
                <a:ea typeface="Arial"/>
                <a:cs typeface="Arial"/>
              </a:rPr>
              <a:t>WHAT IS A JETSON?  ·  NVIDIA, 2020</a:t>
            </a:r>
            <a:endParaRPr lang="en-US" sz="1100"/>
          </a:p>
        </p:txBody>
      </p:sp>
      <p:sp>
        <p:nvSpPr>
          <p:cNvPr id="1996801878" name="Text 3"/>
          <p:cNvSpPr txBox="1"/>
          <p:nvPr/>
        </p:nvSpPr>
        <p:spPr bwMode="auto">
          <a:xfrm>
            <a:off x="457200" y="121920"/>
            <a:ext cx="8229600" cy="685800"/>
          </a:xfrm>
          <a:prstGeom prst="rect">
            <a:avLst/>
          </a:prstGeom>
          <a:noFill/>
          <a:ln/>
        </p:spPr>
        <p:txBody>
          <a:bodyPr wrap="square" lIns="0" tIns="0" rIns="0" bIns="0" rtlCol="0" anchor="ctr"/>
          <a:lstStyle/>
          <a:p>
            <a:pPr marL="0" indent="0">
              <a:buNone/>
              <a:defRPr/>
            </a:pPr>
            <a:r>
              <a:rPr lang="en-US" sz="3600" b="1">
                <a:solidFill>
                  <a:srgbClr val="FFFFFF"/>
                </a:solidFill>
                <a:latin typeface="Arial"/>
                <a:ea typeface="Arial"/>
                <a:cs typeface="Arial"/>
              </a:rPr>
              <a:t>Jetson Nano 2GB</a:t>
            </a:r>
            <a:endParaRPr lang="en-US" sz="3600"/>
          </a:p>
        </p:txBody>
      </p:sp>
      <p:sp>
        <p:nvSpPr>
          <p:cNvPr id="658402906" name="Text 4"/>
          <p:cNvSpPr txBox="1"/>
          <p:nvPr/>
        </p:nvSpPr>
        <p:spPr bwMode="auto">
          <a:xfrm>
            <a:off x="457200" y="1325880"/>
            <a:ext cx="8229600" cy="365760"/>
          </a:xfrm>
          <a:prstGeom prst="rect">
            <a:avLst/>
          </a:prstGeom>
          <a:noFill/>
          <a:ln/>
        </p:spPr>
        <p:txBody>
          <a:bodyPr wrap="square" lIns="0" tIns="0" rIns="0" bIns="0" rtlCol="0" anchor="ctr"/>
          <a:lstStyle/>
          <a:p>
            <a:pPr marL="0" indent="0">
              <a:buNone/>
              <a:defRPr/>
            </a:pPr>
            <a:r>
              <a:rPr lang="en-US" sz="1600" i="1">
                <a:solidFill>
                  <a:srgbClr val="A9B4C2"/>
                </a:solidFill>
                <a:latin typeface="Arial"/>
                <a:ea typeface="Arial"/>
                <a:cs typeface="Arial"/>
              </a:rPr>
              <a:t>A $</a:t>
            </a:r>
            <a:r>
              <a:rPr sz="1600" i="1">
                <a:solidFill>
                  <a:srgbClr val="A9B4C2"/>
                </a:solidFill>
                <a:latin typeface="Arial"/>
                <a:ea typeface="Arial"/>
                <a:cs typeface="Arial"/>
              </a:rPr>
              <a:t>60</a:t>
            </a:r>
            <a:r>
              <a:rPr lang="en-US" sz="1600" i="1">
                <a:solidFill>
                  <a:srgbClr val="A9B4C2"/>
                </a:solidFill>
                <a:latin typeface="Arial"/>
                <a:ea typeface="Arial"/>
                <a:cs typeface="Arial"/>
              </a:rPr>
              <a:t> mini computer built to teach AI and robotics. No longer sold, still very capable.</a:t>
            </a:r>
            <a:endParaRPr lang="en-US" sz="1600"/>
          </a:p>
        </p:txBody>
      </p:sp>
      <p:sp>
        <p:nvSpPr>
          <p:cNvPr id="1490867882" name="Shape 6"/>
          <p:cNvSpPr/>
          <p:nvPr/>
        </p:nvSpPr>
        <p:spPr bwMode="auto">
          <a:xfrm>
            <a:off x="457200" y="4187952"/>
            <a:ext cx="475488" cy="475488"/>
          </a:xfrm>
          <a:prstGeom prst="ellipse">
            <a:avLst/>
          </a:prstGeom>
          <a:solidFill>
            <a:srgbClr val="76B900"/>
          </a:solidFill>
          <a:ln w="12700">
            <a:solidFill>
              <a:srgbClr val="76B900"/>
            </a:solidFill>
            <a:prstDash val="solid"/>
          </a:ln>
        </p:spPr>
      </p:sp>
      <p:pic>
        <p:nvPicPr>
          <p:cNvPr id="777480749" name="Image 1" descr="preencoded.png"/>
          <p:cNvPicPr>
            <a:picLocks noChangeAspect="1"/>
          </p:cNvPicPr>
          <p:nvPr/>
        </p:nvPicPr>
        <p:blipFill rotWithShape="1">
          <a:blip r:embed="rId3"/>
          <a:stretch/>
        </p:blipFill>
        <p:spPr bwMode="auto">
          <a:xfrm>
            <a:off x="576072" y="4306824"/>
            <a:ext cx="237744" cy="237744"/>
          </a:xfrm>
          <a:prstGeom prst="rect">
            <a:avLst/>
          </a:prstGeom>
        </p:spPr>
      </p:pic>
      <p:sp>
        <p:nvSpPr>
          <p:cNvPr id="1313982623" name="Text 7"/>
          <p:cNvSpPr txBox="1"/>
          <p:nvPr/>
        </p:nvSpPr>
        <p:spPr bwMode="auto">
          <a:xfrm>
            <a:off x="1115568" y="4151376"/>
            <a:ext cx="3657600" cy="292608"/>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My use: DATV on QO-100</a:t>
            </a:r>
            <a:endParaRPr lang="en-US" sz="1500"/>
          </a:p>
        </p:txBody>
      </p:sp>
      <p:sp>
        <p:nvSpPr>
          <p:cNvPr id="1574083739" name="Text 8"/>
          <p:cNvSpPr txBox="1"/>
          <p:nvPr/>
        </p:nvSpPr>
        <p:spPr bwMode="auto">
          <a:xfrm>
            <a:off x="1115568" y="4443984"/>
            <a:ext cx="3657600" cy="256032"/>
          </a:xfrm>
          <a:prstGeom prst="rect">
            <a:avLst/>
          </a:prstGeom>
          <a:noFill/>
          <a:ln/>
        </p:spPr>
        <p:txBody>
          <a:bodyPr wrap="square" lIns="0" tIns="0" rIns="0" bIns="0" rtlCol="0" anchor="ctr"/>
          <a:lstStyle/>
          <a:p>
            <a:pPr marL="0" indent="0">
              <a:buNone/>
              <a:defRPr/>
            </a:pPr>
            <a:r>
              <a:rPr lang="en-US" sz="1150">
                <a:solidFill>
                  <a:srgbClr val="A9B4C2"/>
                </a:solidFill>
                <a:latin typeface="Arial"/>
                <a:ea typeface="Arial"/>
                <a:cs typeface="Arial"/>
              </a:rPr>
              <a:t>Its hardware H.265 encoder feeds an ADALM-Pluto</a:t>
            </a:r>
            <a:endParaRPr lang="en-US" sz="1150"/>
          </a:p>
        </p:txBody>
      </p:sp>
      <p:sp>
        <p:nvSpPr>
          <p:cNvPr id="399278480" name="Shape 9"/>
          <p:cNvSpPr/>
          <p:nvPr/>
        </p:nvSpPr>
        <p:spPr bwMode="auto">
          <a:xfrm>
            <a:off x="5029200" y="1965960"/>
            <a:ext cx="3657600" cy="2697480"/>
          </a:xfrm>
          <a:prstGeom prst="roundRect">
            <a:avLst>
              <a:gd name="adj" fmla="val 4068"/>
            </a:avLst>
          </a:prstGeom>
          <a:solidFill>
            <a:srgbClr val="1A2029"/>
          </a:solidFill>
          <a:ln w="12700">
            <a:solidFill>
              <a:srgbClr val="1A2029"/>
            </a:solidFill>
            <a:prstDash val="solid"/>
          </a:ln>
        </p:spPr>
      </p:sp>
      <p:sp>
        <p:nvSpPr>
          <p:cNvPr id="1196746613" name="Shape 10"/>
          <p:cNvSpPr/>
          <p:nvPr/>
        </p:nvSpPr>
        <p:spPr bwMode="auto">
          <a:xfrm>
            <a:off x="5230368" y="2130552"/>
            <a:ext cx="274320" cy="274320"/>
          </a:xfrm>
          <a:prstGeom prst="ellipse">
            <a:avLst/>
          </a:prstGeom>
          <a:solidFill>
            <a:srgbClr val="76B900"/>
          </a:solidFill>
          <a:ln w="12700">
            <a:solidFill>
              <a:srgbClr val="76B900"/>
            </a:solidFill>
            <a:prstDash val="solid"/>
          </a:ln>
        </p:spPr>
      </p:sp>
      <p:pic>
        <p:nvPicPr>
          <p:cNvPr id="1400642607" name="Image 2" descr="preencoded.png"/>
          <p:cNvPicPr>
            <a:picLocks noChangeAspect="1"/>
          </p:cNvPicPr>
          <p:nvPr/>
        </p:nvPicPr>
        <p:blipFill rotWithShape="1">
          <a:blip r:embed="rId4"/>
          <a:stretch/>
        </p:blipFill>
        <p:spPr bwMode="auto">
          <a:xfrm>
            <a:off x="5294376" y="2194560"/>
            <a:ext cx="146304" cy="146304"/>
          </a:xfrm>
          <a:prstGeom prst="rect">
            <a:avLst/>
          </a:prstGeom>
        </p:spPr>
      </p:pic>
      <p:sp>
        <p:nvSpPr>
          <p:cNvPr id="1568708236" name="Text 11"/>
          <p:cNvSpPr txBox="1"/>
          <p:nvPr/>
        </p:nvSpPr>
        <p:spPr bwMode="auto">
          <a:xfrm>
            <a:off x="5623560" y="2130552"/>
            <a:ext cx="713232" cy="274320"/>
          </a:xfrm>
          <a:prstGeom prst="rect">
            <a:avLst/>
          </a:prstGeom>
          <a:noFill/>
          <a:ln/>
        </p:spPr>
        <p:txBody>
          <a:bodyPr wrap="square" lIns="0" tIns="0" rIns="0" bIns="0" rtlCol="0" anchor="ctr"/>
          <a:lstStyle/>
          <a:p>
            <a:pPr marL="0" indent="0">
              <a:buNone/>
              <a:defRPr/>
            </a:pPr>
            <a:r>
              <a:rPr lang="en-US" sz="1000" b="1">
                <a:solidFill>
                  <a:srgbClr val="76B900"/>
                </a:solidFill>
                <a:latin typeface="Arial"/>
                <a:ea typeface="Arial"/>
                <a:cs typeface="Arial"/>
              </a:rPr>
              <a:t>CPU</a:t>
            </a:r>
            <a:endParaRPr lang="en-US" sz="1000"/>
          </a:p>
        </p:txBody>
      </p:sp>
      <p:sp>
        <p:nvSpPr>
          <p:cNvPr id="1877223090" name="Text 12"/>
          <p:cNvSpPr txBox="1"/>
          <p:nvPr/>
        </p:nvSpPr>
        <p:spPr bwMode="auto">
          <a:xfrm>
            <a:off x="6373368" y="2130552"/>
            <a:ext cx="2194560" cy="274320"/>
          </a:xfrm>
          <a:prstGeom prst="rect">
            <a:avLst/>
          </a:prstGeom>
          <a:noFill/>
          <a:ln/>
        </p:spPr>
        <p:txBody>
          <a:bodyPr wrap="square" lIns="0" tIns="0" rIns="0" bIns="0" rtlCol="0" anchor="ctr"/>
          <a:lstStyle/>
          <a:p>
            <a:pPr marL="0" indent="0">
              <a:buNone/>
              <a:defRPr/>
            </a:pPr>
            <a:r>
              <a:rPr lang="en-US" sz="1050">
                <a:solidFill>
                  <a:srgbClr val="FFFFFF"/>
                </a:solidFill>
                <a:latin typeface="Arial"/>
                <a:ea typeface="Arial"/>
                <a:cs typeface="Arial"/>
              </a:rPr>
              <a:t>4-core ARM Cortex-A57, 1.43 GHz</a:t>
            </a:r>
            <a:endParaRPr lang="en-US" sz="1050"/>
          </a:p>
        </p:txBody>
      </p:sp>
      <p:sp>
        <p:nvSpPr>
          <p:cNvPr id="641364370" name="Shape 13"/>
          <p:cNvSpPr/>
          <p:nvPr/>
        </p:nvSpPr>
        <p:spPr bwMode="auto">
          <a:xfrm>
            <a:off x="5230368" y="2482596"/>
            <a:ext cx="274320" cy="274320"/>
          </a:xfrm>
          <a:prstGeom prst="ellipse">
            <a:avLst/>
          </a:prstGeom>
          <a:solidFill>
            <a:srgbClr val="76B900"/>
          </a:solidFill>
          <a:ln w="12700">
            <a:solidFill>
              <a:srgbClr val="76B900"/>
            </a:solidFill>
            <a:prstDash val="solid"/>
          </a:ln>
        </p:spPr>
      </p:sp>
      <p:pic>
        <p:nvPicPr>
          <p:cNvPr id="1494263175" name="Image 3" descr="preencoded.png"/>
          <p:cNvPicPr>
            <a:picLocks noChangeAspect="1"/>
          </p:cNvPicPr>
          <p:nvPr/>
        </p:nvPicPr>
        <p:blipFill rotWithShape="1">
          <a:blip r:embed="rId5"/>
          <a:stretch/>
        </p:blipFill>
        <p:spPr bwMode="auto">
          <a:xfrm>
            <a:off x="5294376" y="2546604"/>
            <a:ext cx="146304" cy="146304"/>
          </a:xfrm>
          <a:prstGeom prst="rect">
            <a:avLst/>
          </a:prstGeom>
        </p:spPr>
      </p:pic>
      <p:sp>
        <p:nvSpPr>
          <p:cNvPr id="1501018334" name="Text 14"/>
          <p:cNvSpPr txBox="1"/>
          <p:nvPr/>
        </p:nvSpPr>
        <p:spPr bwMode="auto">
          <a:xfrm>
            <a:off x="5623560" y="2482596"/>
            <a:ext cx="713232" cy="274320"/>
          </a:xfrm>
          <a:prstGeom prst="rect">
            <a:avLst/>
          </a:prstGeom>
          <a:noFill/>
          <a:ln/>
        </p:spPr>
        <p:txBody>
          <a:bodyPr wrap="square" lIns="0" tIns="0" rIns="0" bIns="0" rtlCol="0" anchor="ctr"/>
          <a:lstStyle/>
          <a:p>
            <a:pPr marL="0" indent="0">
              <a:buNone/>
              <a:defRPr/>
            </a:pPr>
            <a:r>
              <a:rPr lang="en-US" sz="1000" b="1">
                <a:solidFill>
                  <a:srgbClr val="76B900"/>
                </a:solidFill>
                <a:latin typeface="Arial"/>
                <a:ea typeface="Arial"/>
                <a:cs typeface="Arial"/>
              </a:rPr>
              <a:t>GPU</a:t>
            </a:r>
            <a:endParaRPr lang="en-US" sz="1000"/>
          </a:p>
        </p:txBody>
      </p:sp>
      <p:sp>
        <p:nvSpPr>
          <p:cNvPr id="662681594" name="Text 15"/>
          <p:cNvSpPr txBox="1"/>
          <p:nvPr/>
        </p:nvSpPr>
        <p:spPr bwMode="auto">
          <a:xfrm>
            <a:off x="6373368" y="2482596"/>
            <a:ext cx="2194560" cy="274320"/>
          </a:xfrm>
          <a:prstGeom prst="rect">
            <a:avLst/>
          </a:prstGeom>
          <a:noFill/>
          <a:ln/>
        </p:spPr>
        <p:txBody>
          <a:bodyPr wrap="square" lIns="0" tIns="0" rIns="0" bIns="0" rtlCol="0" anchor="ctr"/>
          <a:lstStyle/>
          <a:p>
            <a:pPr marL="0" indent="0">
              <a:buNone/>
              <a:defRPr/>
            </a:pPr>
            <a:r>
              <a:rPr lang="en-US" sz="1050">
                <a:solidFill>
                  <a:srgbClr val="FFFFFF"/>
                </a:solidFill>
                <a:latin typeface="Arial"/>
                <a:ea typeface="Arial"/>
                <a:cs typeface="Arial"/>
              </a:rPr>
              <a:t>128-core NVIDIA Maxwell, CUDA</a:t>
            </a:r>
            <a:endParaRPr lang="en-US" sz="1050"/>
          </a:p>
        </p:txBody>
      </p:sp>
      <p:sp>
        <p:nvSpPr>
          <p:cNvPr id="240250571" name="Shape 16"/>
          <p:cNvSpPr/>
          <p:nvPr/>
        </p:nvSpPr>
        <p:spPr bwMode="auto">
          <a:xfrm>
            <a:off x="5230368" y="2834640"/>
            <a:ext cx="274320" cy="274320"/>
          </a:xfrm>
          <a:prstGeom prst="ellipse">
            <a:avLst/>
          </a:prstGeom>
          <a:solidFill>
            <a:srgbClr val="76B900"/>
          </a:solidFill>
          <a:ln w="12700">
            <a:solidFill>
              <a:srgbClr val="76B900"/>
            </a:solidFill>
            <a:prstDash val="solid"/>
          </a:ln>
        </p:spPr>
      </p:sp>
      <p:pic>
        <p:nvPicPr>
          <p:cNvPr id="1035849814" name="Image 4" descr="preencoded.png"/>
          <p:cNvPicPr>
            <a:picLocks noChangeAspect="1"/>
          </p:cNvPicPr>
          <p:nvPr/>
        </p:nvPicPr>
        <p:blipFill rotWithShape="1">
          <a:blip r:embed="rId6"/>
          <a:stretch/>
        </p:blipFill>
        <p:spPr bwMode="auto">
          <a:xfrm>
            <a:off x="5294376" y="2898648"/>
            <a:ext cx="146304" cy="146304"/>
          </a:xfrm>
          <a:prstGeom prst="rect">
            <a:avLst/>
          </a:prstGeom>
        </p:spPr>
      </p:pic>
      <p:sp>
        <p:nvSpPr>
          <p:cNvPr id="117916514" name="Text 17"/>
          <p:cNvSpPr txBox="1"/>
          <p:nvPr/>
        </p:nvSpPr>
        <p:spPr bwMode="auto">
          <a:xfrm>
            <a:off x="5623560" y="2834640"/>
            <a:ext cx="713232" cy="274320"/>
          </a:xfrm>
          <a:prstGeom prst="rect">
            <a:avLst/>
          </a:prstGeom>
          <a:noFill/>
          <a:ln/>
        </p:spPr>
        <p:txBody>
          <a:bodyPr wrap="square" lIns="0" tIns="0" rIns="0" bIns="0" rtlCol="0" anchor="ctr"/>
          <a:lstStyle/>
          <a:p>
            <a:pPr marL="0" indent="0">
              <a:buNone/>
              <a:defRPr/>
            </a:pPr>
            <a:r>
              <a:rPr lang="en-US" sz="1000" b="1">
                <a:solidFill>
                  <a:srgbClr val="76B900"/>
                </a:solidFill>
                <a:latin typeface="Arial"/>
                <a:ea typeface="Arial"/>
                <a:cs typeface="Arial"/>
              </a:rPr>
              <a:t>RAM</a:t>
            </a:r>
            <a:endParaRPr lang="en-US" sz="1000"/>
          </a:p>
        </p:txBody>
      </p:sp>
      <p:sp>
        <p:nvSpPr>
          <p:cNvPr id="1922903985" name="Text 18"/>
          <p:cNvSpPr txBox="1"/>
          <p:nvPr/>
        </p:nvSpPr>
        <p:spPr bwMode="auto">
          <a:xfrm>
            <a:off x="6373368" y="2834640"/>
            <a:ext cx="2194560" cy="274320"/>
          </a:xfrm>
          <a:prstGeom prst="rect">
            <a:avLst/>
          </a:prstGeom>
          <a:noFill/>
          <a:ln/>
        </p:spPr>
        <p:txBody>
          <a:bodyPr wrap="square" lIns="0" tIns="0" rIns="0" bIns="0" rtlCol="0" anchor="ctr"/>
          <a:lstStyle/>
          <a:p>
            <a:pPr marL="0" indent="0">
              <a:buNone/>
              <a:defRPr/>
            </a:pPr>
            <a:r>
              <a:rPr lang="en-US" sz="1050">
                <a:solidFill>
                  <a:srgbClr val="FFFFFF"/>
                </a:solidFill>
                <a:latin typeface="Arial"/>
                <a:ea typeface="Arial"/>
                <a:cs typeface="Arial"/>
              </a:rPr>
              <a:t>2 GB LPDDR4, shared with GPU</a:t>
            </a:r>
            <a:endParaRPr lang="en-US" sz="1050"/>
          </a:p>
        </p:txBody>
      </p:sp>
      <p:sp>
        <p:nvSpPr>
          <p:cNvPr id="557153264" name="Shape 19"/>
          <p:cNvSpPr/>
          <p:nvPr/>
        </p:nvSpPr>
        <p:spPr bwMode="auto">
          <a:xfrm>
            <a:off x="5230368" y="3186684"/>
            <a:ext cx="274320" cy="274320"/>
          </a:xfrm>
          <a:prstGeom prst="ellipse">
            <a:avLst/>
          </a:prstGeom>
          <a:solidFill>
            <a:srgbClr val="E63946"/>
          </a:solidFill>
          <a:ln w="12700">
            <a:solidFill>
              <a:srgbClr val="E63946"/>
            </a:solidFill>
            <a:prstDash val="solid"/>
          </a:ln>
        </p:spPr>
      </p:sp>
      <p:pic>
        <p:nvPicPr>
          <p:cNvPr id="917864154" name="Image 5" descr="preencoded.png"/>
          <p:cNvPicPr>
            <a:picLocks noChangeAspect="1"/>
          </p:cNvPicPr>
          <p:nvPr/>
        </p:nvPicPr>
        <p:blipFill rotWithShape="1">
          <a:blip r:embed="rId7"/>
          <a:stretch/>
        </p:blipFill>
        <p:spPr bwMode="auto">
          <a:xfrm>
            <a:off x="5294376" y="3250692"/>
            <a:ext cx="146304" cy="146304"/>
          </a:xfrm>
          <a:prstGeom prst="rect">
            <a:avLst/>
          </a:prstGeom>
        </p:spPr>
      </p:pic>
      <p:sp>
        <p:nvSpPr>
          <p:cNvPr id="2104656208" name="Text 20"/>
          <p:cNvSpPr txBox="1"/>
          <p:nvPr/>
        </p:nvSpPr>
        <p:spPr bwMode="auto">
          <a:xfrm>
            <a:off x="5623560" y="3186684"/>
            <a:ext cx="713232" cy="274320"/>
          </a:xfrm>
          <a:prstGeom prst="rect">
            <a:avLst/>
          </a:prstGeom>
          <a:noFill/>
          <a:ln/>
        </p:spPr>
        <p:txBody>
          <a:bodyPr wrap="square" lIns="0" tIns="0" rIns="0" bIns="0" rtlCol="0" anchor="ctr"/>
          <a:lstStyle/>
          <a:p>
            <a:pPr marL="0" indent="0">
              <a:buNone/>
              <a:defRPr/>
            </a:pPr>
            <a:r>
              <a:rPr lang="en-US" sz="1000" b="1">
                <a:solidFill>
                  <a:srgbClr val="E63946"/>
                </a:solidFill>
                <a:latin typeface="Arial"/>
                <a:ea typeface="Arial"/>
                <a:cs typeface="Arial"/>
              </a:rPr>
              <a:t>VIDEO</a:t>
            </a:r>
            <a:endParaRPr lang="en-US" sz="1000"/>
          </a:p>
        </p:txBody>
      </p:sp>
      <p:sp>
        <p:nvSpPr>
          <p:cNvPr id="1731744084" name="Text 21"/>
          <p:cNvSpPr txBox="1"/>
          <p:nvPr/>
        </p:nvSpPr>
        <p:spPr bwMode="auto">
          <a:xfrm>
            <a:off x="6373368" y="3186684"/>
            <a:ext cx="2194560" cy="274320"/>
          </a:xfrm>
          <a:prstGeom prst="rect">
            <a:avLst/>
          </a:prstGeom>
          <a:noFill/>
          <a:ln/>
        </p:spPr>
        <p:txBody>
          <a:bodyPr wrap="square" lIns="0" tIns="0" rIns="0" bIns="0" rtlCol="0" anchor="ctr"/>
          <a:lstStyle/>
          <a:p>
            <a:pPr marL="0" indent="0">
              <a:buNone/>
              <a:defRPr/>
            </a:pPr>
            <a:r>
              <a:rPr lang="en-US" sz="1050" b="1">
                <a:solidFill>
                  <a:srgbClr val="FFFFFF"/>
                </a:solidFill>
                <a:latin typeface="Arial"/>
                <a:ea typeface="Arial"/>
                <a:cs typeface="Arial"/>
              </a:rPr>
              <a:t>H.264 / H.265 hardware encoder</a:t>
            </a:r>
            <a:endParaRPr lang="en-US" sz="1050"/>
          </a:p>
        </p:txBody>
      </p:sp>
      <p:sp>
        <p:nvSpPr>
          <p:cNvPr id="1036592815" name="Shape 22"/>
          <p:cNvSpPr/>
          <p:nvPr/>
        </p:nvSpPr>
        <p:spPr bwMode="auto">
          <a:xfrm>
            <a:off x="5230368" y="3538728"/>
            <a:ext cx="274320" cy="274320"/>
          </a:xfrm>
          <a:prstGeom prst="ellipse">
            <a:avLst/>
          </a:prstGeom>
          <a:solidFill>
            <a:srgbClr val="76B900"/>
          </a:solidFill>
          <a:ln w="12700">
            <a:solidFill>
              <a:srgbClr val="76B900"/>
            </a:solidFill>
            <a:prstDash val="solid"/>
          </a:ln>
        </p:spPr>
      </p:sp>
      <p:pic>
        <p:nvPicPr>
          <p:cNvPr id="1346903954" name="Image 6" descr="preencoded.png"/>
          <p:cNvPicPr>
            <a:picLocks noChangeAspect="1"/>
          </p:cNvPicPr>
          <p:nvPr/>
        </p:nvPicPr>
        <p:blipFill rotWithShape="1">
          <a:blip r:embed="rId8"/>
          <a:stretch/>
        </p:blipFill>
        <p:spPr bwMode="auto">
          <a:xfrm>
            <a:off x="5294376" y="3602735"/>
            <a:ext cx="146304" cy="146304"/>
          </a:xfrm>
          <a:prstGeom prst="rect">
            <a:avLst/>
          </a:prstGeom>
        </p:spPr>
      </p:pic>
      <p:sp>
        <p:nvSpPr>
          <p:cNvPr id="1889407666" name="Text 23"/>
          <p:cNvSpPr txBox="1"/>
          <p:nvPr/>
        </p:nvSpPr>
        <p:spPr bwMode="auto">
          <a:xfrm>
            <a:off x="5623560" y="3538728"/>
            <a:ext cx="713232" cy="274320"/>
          </a:xfrm>
          <a:prstGeom prst="rect">
            <a:avLst/>
          </a:prstGeom>
          <a:noFill/>
          <a:ln/>
        </p:spPr>
        <p:txBody>
          <a:bodyPr wrap="square" lIns="0" tIns="0" rIns="0" bIns="0" rtlCol="0" anchor="ctr"/>
          <a:lstStyle/>
          <a:p>
            <a:pPr marL="0" indent="0">
              <a:buNone/>
              <a:defRPr/>
            </a:pPr>
            <a:r>
              <a:rPr lang="en-US" sz="1000" b="1">
                <a:solidFill>
                  <a:srgbClr val="76B900"/>
                </a:solidFill>
                <a:latin typeface="Arial"/>
                <a:ea typeface="Arial"/>
                <a:cs typeface="Arial"/>
              </a:rPr>
              <a:t>I/O</a:t>
            </a:r>
            <a:endParaRPr lang="en-US" sz="1000"/>
          </a:p>
        </p:txBody>
      </p:sp>
      <p:sp>
        <p:nvSpPr>
          <p:cNvPr id="1779831305" name="Text 24"/>
          <p:cNvSpPr txBox="1"/>
          <p:nvPr/>
        </p:nvSpPr>
        <p:spPr bwMode="auto">
          <a:xfrm>
            <a:off x="6373368" y="3538728"/>
            <a:ext cx="2194560" cy="274320"/>
          </a:xfrm>
          <a:prstGeom prst="rect">
            <a:avLst/>
          </a:prstGeom>
          <a:noFill/>
          <a:ln/>
        </p:spPr>
        <p:txBody>
          <a:bodyPr wrap="square" lIns="0" tIns="0" rIns="0" bIns="0" rtlCol="0" anchor="ctr"/>
          <a:lstStyle/>
          <a:p>
            <a:pPr marL="0" indent="0">
              <a:buNone/>
              <a:defRPr/>
            </a:pPr>
            <a:r>
              <a:rPr lang="en-US" sz="1050">
                <a:solidFill>
                  <a:srgbClr val="FFFFFF"/>
                </a:solidFill>
                <a:latin typeface="Arial"/>
                <a:ea typeface="Arial"/>
                <a:cs typeface="Arial"/>
              </a:rPr>
              <a:t>Gigabit LAN, 3× USB, HDMI</a:t>
            </a:r>
            <a:endParaRPr lang="en-US" sz="1050"/>
          </a:p>
        </p:txBody>
      </p:sp>
      <p:sp>
        <p:nvSpPr>
          <p:cNvPr id="788836407" name="Shape 25"/>
          <p:cNvSpPr/>
          <p:nvPr/>
        </p:nvSpPr>
        <p:spPr bwMode="auto">
          <a:xfrm>
            <a:off x="5230368" y="3890772"/>
            <a:ext cx="274320" cy="274320"/>
          </a:xfrm>
          <a:prstGeom prst="ellipse">
            <a:avLst/>
          </a:prstGeom>
          <a:solidFill>
            <a:srgbClr val="76B900"/>
          </a:solidFill>
          <a:ln w="12700">
            <a:solidFill>
              <a:srgbClr val="76B900"/>
            </a:solidFill>
            <a:prstDash val="solid"/>
          </a:ln>
        </p:spPr>
      </p:sp>
      <p:pic>
        <p:nvPicPr>
          <p:cNvPr id="506113848" name="Image 7" descr="preencoded.png"/>
          <p:cNvPicPr>
            <a:picLocks noChangeAspect="1"/>
          </p:cNvPicPr>
          <p:nvPr/>
        </p:nvPicPr>
        <p:blipFill rotWithShape="1">
          <a:blip r:embed="rId9"/>
          <a:stretch/>
        </p:blipFill>
        <p:spPr bwMode="auto">
          <a:xfrm>
            <a:off x="5294376" y="3954780"/>
            <a:ext cx="146304" cy="146304"/>
          </a:xfrm>
          <a:prstGeom prst="rect">
            <a:avLst/>
          </a:prstGeom>
        </p:spPr>
      </p:pic>
      <p:sp>
        <p:nvSpPr>
          <p:cNvPr id="1813968144" name="Text 26"/>
          <p:cNvSpPr txBox="1"/>
          <p:nvPr/>
        </p:nvSpPr>
        <p:spPr bwMode="auto">
          <a:xfrm>
            <a:off x="5623560" y="3890772"/>
            <a:ext cx="713232" cy="274320"/>
          </a:xfrm>
          <a:prstGeom prst="rect">
            <a:avLst/>
          </a:prstGeom>
          <a:noFill/>
          <a:ln/>
        </p:spPr>
        <p:txBody>
          <a:bodyPr wrap="square" lIns="0" tIns="0" rIns="0" bIns="0" rtlCol="0" anchor="ctr"/>
          <a:lstStyle/>
          <a:p>
            <a:pPr marL="0" indent="0">
              <a:buNone/>
              <a:defRPr/>
            </a:pPr>
            <a:r>
              <a:rPr lang="en-US" sz="1000" b="1">
                <a:solidFill>
                  <a:srgbClr val="76B900"/>
                </a:solidFill>
                <a:latin typeface="Arial"/>
                <a:ea typeface="Arial"/>
                <a:cs typeface="Arial"/>
              </a:rPr>
              <a:t>POWER</a:t>
            </a:r>
            <a:endParaRPr lang="en-US" sz="1000"/>
          </a:p>
        </p:txBody>
      </p:sp>
      <p:sp>
        <p:nvSpPr>
          <p:cNvPr id="394985281" name="Text 27"/>
          <p:cNvSpPr txBox="1"/>
          <p:nvPr/>
        </p:nvSpPr>
        <p:spPr bwMode="auto">
          <a:xfrm>
            <a:off x="6373368" y="3890772"/>
            <a:ext cx="2194560" cy="274320"/>
          </a:xfrm>
          <a:prstGeom prst="rect">
            <a:avLst/>
          </a:prstGeom>
          <a:noFill/>
          <a:ln/>
        </p:spPr>
        <p:txBody>
          <a:bodyPr wrap="square" lIns="0" tIns="0" rIns="0" bIns="0" rtlCol="0" anchor="ctr"/>
          <a:lstStyle/>
          <a:p>
            <a:pPr marL="0" indent="0">
              <a:buNone/>
              <a:defRPr/>
            </a:pPr>
            <a:r>
              <a:rPr lang="en-US" sz="1050">
                <a:solidFill>
                  <a:srgbClr val="FFFFFF"/>
                </a:solidFill>
                <a:latin typeface="Arial"/>
                <a:ea typeface="Arial"/>
                <a:cs typeface="Arial"/>
              </a:rPr>
              <a:t>5 V USB-C, about 5–10 W</a:t>
            </a:r>
            <a:endParaRPr lang="en-US" sz="1050"/>
          </a:p>
        </p:txBody>
      </p:sp>
      <p:sp>
        <p:nvSpPr>
          <p:cNvPr id="428395621" name="Shape 28"/>
          <p:cNvSpPr/>
          <p:nvPr/>
        </p:nvSpPr>
        <p:spPr bwMode="auto">
          <a:xfrm>
            <a:off x="5230368" y="4242816"/>
            <a:ext cx="274320" cy="274320"/>
          </a:xfrm>
          <a:prstGeom prst="ellipse">
            <a:avLst/>
          </a:prstGeom>
          <a:solidFill>
            <a:srgbClr val="76B900"/>
          </a:solidFill>
          <a:ln w="12700">
            <a:solidFill>
              <a:srgbClr val="76B900"/>
            </a:solidFill>
            <a:prstDash val="solid"/>
          </a:ln>
        </p:spPr>
      </p:sp>
      <p:pic>
        <p:nvPicPr>
          <p:cNvPr id="452830330" name="Image 8" descr="preencoded.png"/>
          <p:cNvPicPr>
            <a:picLocks noChangeAspect="1"/>
          </p:cNvPicPr>
          <p:nvPr/>
        </p:nvPicPr>
        <p:blipFill rotWithShape="1">
          <a:blip r:embed="rId10"/>
          <a:stretch/>
        </p:blipFill>
        <p:spPr bwMode="auto">
          <a:xfrm>
            <a:off x="5294376" y="4306824"/>
            <a:ext cx="146304" cy="146304"/>
          </a:xfrm>
          <a:prstGeom prst="rect">
            <a:avLst/>
          </a:prstGeom>
        </p:spPr>
      </p:pic>
      <p:sp>
        <p:nvSpPr>
          <p:cNvPr id="2037858010" name="Text 29"/>
          <p:cNvSpPr txBox="1"/>
          <p:nvPr/>
        </p:nvSpPr>
        <p:spPr bwMode="auto">
          <a:xfrm>
            <a:off x="5623560" y="4242816"/>
            <a:ext cx="713232" cy="274320"/>
          </a:xfrm>
          <a:prstGeom prst="rect">
            <a:avLst/>
          </a:prstGeom>
          <a:noFill/>
          <a:ln/>
        </p:spPr>
        <p:txBody>
          <a:bodyPr wrap="square" lIns="0" tIns="0" rIns="0" bIns="0" rtlCol="0" anchor="ctr"/>
          <a:lstStyle/>
          <a:p>
            <a:pPr marL="0" indent="0">
              <a:buNone/>
              <a:defRPr/>
            </a:pPr>
            <a:r>
              <a:rPr lang="en-US" sz="1000" b="1">
                <a:solidFill>
                  <a:srgbClr val="76B900"/>
                </a:solidFill>
                <a:latin typeface="Arial"/>
                <a:ea typeface="Arial"/>
                <a:cs typeface="Arial"/>
              </a:rPr>
              <a:t>OS</a:t>
            </a:r>
            <a:endParaRPr lang="en-US" sz="1000"/>
          </a:p>
        </p:txBody>
      </p:sp>
      <p:sp>
        <p:nvSpPr>
          <p:cNvPr id="598819834" name="Text 30"/>
          <p:cNvSpPr txBox="1"/>
          <p:nvPr/>
        </p:nvSpPr>
        <p:spPr bwMode="auto">
          <a:xfrm>
            <a:off x="6373368" y="4242816"/>
            <a:ext cx="2194560" cy="274320"/>
          </a:xfrm>
          <a:prstGeom prst="rect">
            <a:avLst/>
          </a:prstGeom>
          <a:noFill/>
          <a:ln/>
        </p:spPr>
        <p:txBody>
          <a:bodyPr wrap="square" lIns="0" tIns="0" rIns="0" bIns="0" rtlCol="0" anchor="ctr"/>
          <a:lstStyle/>
          <a:p>
            <a:pPr marL="0" indent="0">
              <a:buNone/>
              <a:defRPr/>
            </a:pPr>
            <a:r>
              <a:rPr lang="en-US" sz="1050">
                <a:solidFill>
                  <a:srgbClr val="FFFFFF"/>
                </a:solidFill>
                <a:latin typeface="Arial"/>
                <a:ea typeface="Arial"/>
                <a:cs typeface="Arial"/>
              </a:rPr>
              <a:t>Ubuntu 18.04 + JetPack 4.6</a:t>
            </a:r>
            <a:endParaRPr lang="en-US" sz="1050"/>
          </a:p>
        </p:txBody>
      </p:sp>
      <p:pic>
        <p:nvPicPr>
          <p:cNvPr id="820456578" name=""/>
          <p:cNvPicPr>
            <a:picLocks noChangeAspect="1"/>
          </p:cNvPicPr>
          <p:nvPr/>
        </p:nvPicPr>
        <p:blipFill rotWithShape="1">
          <a:blip r:embed="rId11"/>
          <a:stretch/>
        </p:blipFill>
        <p:spPr bwMode="auto">
          <a:xfrm flipH="0" flipV="0">
            <a:off x="932688" y="1691639"/>
            <a:ext cx="2884265" cy="24161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0E1217"/>
        </a:solidFill>
      </p:bgPr>
    </p:bg>
    <p:spTree>
      <p:nvGrpSpPr>
        <p:cNvPr id="1" name=""/>
        <p:cNvGrpSpPr/>
        <p:nvPr/>
      </p:nvGrpSpPr>
      <p:grpSpPr bwMode="auto">
        <a:xfrm>
          <a:off x="0" y="0"/>
          <a:ext cx="0" cy="0"/>
          <a:chOff x="0" y="0"/>
          <a:chExt cx="0" cy="0"/>
        </a:xfrm>
      </p:grpSpPr>
      <p:sp>
        <p:nvSpPr>
          <p:cNvPr id="488462744" name="Text 0"/>
          <p:cNvSpPr txBox="1"/>
          <p:nvPr/>
        </p:nvSpPr>
        <p:spPr bwMode="auto">
          <a:xfrm>
            <a:off x="457200" y="1252023"/>
            <a:ext cx="5943600" cy="274320"/>
          </a:xfrm>
          <a:prstGeom prst="rect">
            <a:avLst/>
          </a:prstGeom>
          <a:noFill/>
          <a:ln/>
        </p:spPr>
        <p:txBody>
          <a:bodyPr wrap="square" lIns="0" tIns="0" rIns="0" bIns="0" rtlCol="0" anchor="ctr"/>
          <a:lstStyle/>
          <a:p>
            <a:pPr marL="0" indent="0">
              <a:buNone/>
              <a:defRPr/>
            </a:pPr>
            <a:r>
              <a:rPr lang="en-US" sz="1100" b="1" spc="200">
                <a:solidFill>
                  <a:srgbClr val="76B900"/>
                </a:solidFill>
                <a:latin typeface="Arial"/>
                <a:ea typeface="Arial"/>
                <a:cs typeface="Arial"/>
              </a:rPr>
              <a:t>READY-TO-FLASH SD CARD IMAGE  ·  HB9IIU</a:t>
            </a:r>
            <a:endParaRPr lang="en-US" sz="1100"/>
          </a:p>
        </p:txBody>
      </p:sp>
      <p:sp>
        <p:nvSpPr>
          <p:cNvPr id="558371717" name="Text 3"/>
          <p:cNvSpPr txBox="1"/>
          <p:nvPr/>
        </p:nvSpPr>
        <p:spPr bwMode="auto">
          <a:xfrm>
            <a:off x="457200" y="118872"/>
            <a:ext cx="8229600" cy="1060000"/>
          </a:xfrm>
          <a:prstGeom prst="rect">
            <a:avLst/>
          </a:prstGeom>
          <a:noFill/>
          <a:ln/>
        </p:spPr>
        <p:txBody>
          <a:bodyPr wrap="square" lIns="0" tIns="0" rIns="0" bIns="0" rtlCol="0" anchor="t"/>
          <a:lstStyle/>
          <a:p>
            <a:pPr marL="0" indent="0" algn="l">
              <a:buNone/>
              <a:defRPr/>
            </a:pPr>
            <a:r>
              <a:rPr lang="en-US" sz="3600" b="1" i="0" u="none" strike="noStrike" cap="none" spc="0">
                <a:solidFill>
                  <a:srgbClr val="EEF6FC"/>
                </a:solidFill>
                <a:latin typeface="Arial"/>
                <a:ea typeface="Arial"/>
                <a:cs typeface="Arial"/>
              </a:rPr>
              <a:t>Turn an unused Jetson Nano</a:t>
            </a:r>
            <a:endParaRPr sz="3600"/>
          </a:p>
          <a:p>
            <a:pPr>
              <a:defRPr/>
            </a:pPr>
            <a:r>
              <a:rPr lang="en-US" sz="3600" b="1" i="0" u="none" strike="noStrike" cap="none" spc="0">
                <a:solidFill>
                  <a:srgbClr val="EEF6FC"/>
                </a:solidFill>
                <a:latin typeface="Arial"/>
                <a:ea typeface="Arial"/>
                <a:cs typeface="Arial"/>
              </a:rPr>
              <a:t>into a DATV transmitter</a:t>
            </a:r>
            <a:endParaRPr/>
          </a:p>
        </p:txBody>
      </p:sp>
      <p:sp>
        <p:nvSpPr>
          <p:cNvPr id="1851094626" name="Text 4"/>
          <p:cNvSpPr txBox="1"/>
          <p:nvPr/>
        </p:nvSpPr>
        <p:spPr bwMode="auto">
          <a:xfrm>
            <a:off x="457200" y="1526343"/>
            <a:ext cx="8229600" cy="365760"/>
          </a:xfrm>
          <a:prstGeom prst="rect">
            <a:avLst/>
          </a:prstGeom>
          <a:noFill/>
          <a:ln/>
        </p:spPr>
        <p:txBody>
          <a:bodyPr wrap="square" lIns="0" tIns="0" rIns="0" bIns="0" rtlCol="0" anchor="ctr"/>
          <a:lstStyle/>
          <a:p>
            <a:pPr marL="0" indent="0">
              <a:buNone/>
              <a:defRPr/>
            </a:pPr>
            <a:r>
              <a:rPr lang="en-US" sz="1600" i="1">
                <a:solidFill>
                  <a:srgbClr val="A9B4C2"/>
                </a:solidFill>
                <a:latin typeface="Arial"/>
                <a:ea typeface="Arial"/>
                <a:cs typeface="Arial"/>
              </a:rPr>
              <a:t>Never managed to make it work? Now it has a job.</a:t>
            </a:r>
            <a:endParaRPr lang="en-US" sz="1600"/>
          </a:p>
        </p:txBody>
      </p:sp>
      <p:sp>
        <p:nvSpPr>
          <p:cNvPr id="1858252922" name="Shape 5"/>
          <p:cNvSpPr/>
          <p:nvPr/>
        </p:nvSpPr>
        <p:spPr bwMode="auto">
          <a:xfrm>
            <a:off x="457200" y="2011680"/>
            <a:ext cx="475488" cy="475488"/>
          </a:xfrm>
          <a:prstGeom prst="ellipse">
            <a:avLst/>
          </a:prstGeom>
          <a:solidFill>
            <a:srgbClr val="76B900"/>
          </a:solidFill>
          <a:ln/>
        </p:spPr>
        <p:txBody>
          <a:bodyPr/>
          <a:p>
            <a:pPr>
              <a:defRPr/>
            </a:pPr>
            <a:endParaRPr/>
          </a:p>
        </p:txBody>
      </p:sp>
      <p:pic>
        <p:nvPicPr>
          <p:cNvPr id="1531988354" name="Image 0" descr="preencoded.png"/>
          <p:cNvPicPr>
            <a:picLocks noChangeAspect="1"/>
          </p:cNvPicPr>
          <p:nvPr/>
        </p:nvPicPr>
        <p:blipFill rotWithShape="1">
          <a:blip r:embed="rId3"/>
          <a:stretch/>
        </p:blipFill>
        <p:spPr bwMode="auto">
          <a:xfrm>
            <a:off x="576072" y="2130552"/>
            <a:ext cx="237744" cy="237744"/>
          </a:xfrm>
          <a:prstGeom prst="rect">
            <a:avLst/>
          </a:prstGeom>
        </p:spPr>
      </p:pic>
      <p:sp>
        <p:nvSpPr>
          <p:cNvPr id="1465868516" name="Text 6"/>
          <p:cNvSpPr txBox="1"/>
          <p:nvPr/>
        </p:nvSpPr>
        <p:spPr bwMode="auto">
          <a:xfrm>
            <a:off x="1115568" y="1975104"/>
            <a:ext cx="4114800" cy="292608"/>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Works out of the box with a Pluto</a:t>
            </a:r>
            <a:endParaRPr lang="en-US" sz="1500"/>
          </a:p>
        </p:txBody>
      </p:sp>
      <p:sp>
        <p:nvSpPr>
          <p:cNvPr id="1231851183" name="Text 7"/>
          <p:cNvSpPr txBox="1"/>
          <p:nvPr/>
        </p:nvSpPr>
        <p:spPr bwMode="auto">
          <a:xfrm>
            <a:off x="1115568" y="2267712"/>
            <a:ext cx="4114800" cy="256032"/>
          </a:xfrm>
          <a:prstGeom prst="rect">
            <a:avLst/>
          </a:prstGeom>
          <a:noFill/>
          <a:ln/>
        </p:spPr>
        <p:txBody>
          <a:bodyPr wrap="square" lIns="0" tIns="0" rIns="0" bIns="0" rtlCol="0" anchor="ctr"/>
          <a:lstStyle/>
          <a:p>
            <a:pPr marL="0" indent="0">
              <a:buNone/>
              <a:defRPr/>
            </a:pPr>
            <a:r>
              <a:rPr lang="en-US" sz="1150">
                <a:solidFill>
                  <a:srgbClr val="A9B4C2"/>
                </a:solidFill>
                <a:latin typeface="Arial"/>
                <a:ea typeface="Arial"/>
                <a:cs typeface="Arial"/>
              </a:rPr>
              <a:t>ADALM-Pluto running Evariste's (F5OEO) firmware</a:t>
            </a:r>
            <a:endParaRPr lang="en-US" sz="1150"/>
          </a:p>
        </p:txBody>
      </p:sp>
      <p:sp>
        <p:nvSpPr>
          <p:cNvPr id="1788028820" name="Shape 8"/>
          <p:cNvSpPr/>
          <p:nvPr/>
        </p:nvSpPr>
        <p:spPr bwMode="auto">
          <a:xfrm>
            <a:off x="457200" y="2724911"/>
            <a:ext cx="475488" cy="475488"/>
          </a:xfrm>
          <a:prstGeom prst="ellipse">
            <a:avLst/>
          </a:prstGeom>
          <a:solidFill>
            <a:srgbClr val="76B900"/>
          </a:solidFill>
          <a:ln/>
        </p:spPr>
        <p:txBody>
          <a:bodyPr/>
          <a:p>
            <a:pPr>
              <a:defRPr/>
            </a:pPr>
            <a:endParaRPr/>
          </a:p>
        </p:txBody>
      </p:sp>
      <p:pic>
        <p:nvPicPr>
          <p:cNvPr id="1476433124" name="Image 1" descr="preencoded.png"/>
          <p:cNvPicPr>
            <a:picLocks noChangeAspect="1"/>
          </p:cNvPicPr>
          <p:nvPr/>
        </p:nvPicPr>
        <p:blipFill rotWithShape="1">
          <a:blip r:embed="rId4"/>
          <a:stretch/>
        </p:blipFill>
        <p:spPr bwMode="auto">
          <a:xfrm>
            <a:off x="576072" y="2843784"/>
            <a:ext cx="237744" cy="237744"/>
          </a:xfrm>
          <a:prstGeom prst="rect">
            <a:avLst/>
          </a:prstGeom>
        </p:spPr>
      </p:pic>
      <p:sp>
        <p:nvSpPr>
          <p:cNvPr id="957223106" name="Text 9"/>
          <p:cNvSpPr txBox="1"/>
          <p:nvPr/>
        </p:nvSpPr>
        <p:spPr bwMode="auto">
          <a:xfrm>
            <a:off x="1115568" y="2688336"/>
            <a:ext cx="4114800" cy="292608"/>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USB camera is optional</a:t>
            </a:r>
            <a:endParaRPr lang="en-US" sz="1500"/>
          </a:p>
        </p:txBody>
      </p:sp>
      <p:sp>
        <p:nvSpPr>
          <p:cNvPr id="985466877" name="Text 10"/>
          <p:cNvSpPr txBox="1"/>
          <p:nvPr/>
        </p:nvSpPr>
        <p:spPr bwMode="auto">
          <a:xfrm>
            <a:off x="1115568" y="2980944"/>
            <a:ext cx="4114800" cy="256032"/>
          </a:xfrm>
          <a:prstGeom prst="rect">
            <a:avLst/>
          </a:prstGeom>
          <a:noFill/>
          <a:ln/>
        </p:spPr>
        <p:txBody>
          <a:bodyPr wrap="square" lIns="0" tIns="0" rIns="0" bIns="0" rtlCol="0" anchor="ctr"/>
          <a:lstStyle/>
          <a:p>
            <a:pPr marL="0" indent="0">
              <a:buNone/>
              <a:defRPr/>
            </a:pPr>
            <a:r>
              <a:rPr lang="en-US" sz="1150">
                <a:solidFill>
                  <a:srgbClr val="A9B4C2"/>
                </a:solidFill>
                <a:latin typeface="Arial"/>
                <a:ea typeface="Arial"/>
                <a:cs typeface="Arial"/>
              </a:rPr>
              <a:t>Plug in a webcam for live pictures, or run without one</a:t>
            </a:r>
            <a:endParaRPr lang="en-US" sz="1150"/>
          </a:p>
        </p:txBody>
      </p:sp>
      <p:sp>
        <p:nvSpPr>
          <p:cNvPr id="298373602" name="Shape 11"/>
          <p:cNvSpPr/>
          <p:nvPr/>
        </p:nvSpPr>
        <p:spPr bwMode="auto">
          <a:xfrm>
            <a:off x="457200" y="3438144"/>
            <a:ext cx="475488" cy="475488"/>
          </a:xfrm>
          <a:prstGeom prst="ellipse">
            <a:avLst/>
          </a:prstGeom>
          <a:solidFill>
            <a:srgbClr val="76B900"/>
          </a:solidFill>
          <a:ln/>
        </p:spPr>
        <p:txBody>
          <a:bodyPr/>
          <a:p>
            <a:pPr>
              <a:defRPr/>
            </a:pPr>
            <a:endParaRPr/>
          </a:p>
        </p:txBody>
      </p:sp>
      <p:pic>
        <p:nvPicPr>
          <p:cNvPr id="1295771790" name="Image 2" descr="preencoded.png"/>
          <p:cNvPicPr>
            <a:picLocks noChangeAspect="1"/>
          </p:cNvPicPr>
          <p:nvPr/>
        </p:nvPicPr>
        <p:blipFill rotWithShape="1">
          <a:blip r:embed="rId5"/>
          <a:stretch/>
        </p:blipFill>
        <p:spPr bwMode="auto">
          <a:xfrm>
            <a:off x="576072" y="3557016"/>
            <a:ext cx="237744" cy="237744"/>
          </a:xfrm>
          <a:prstGeom prst="rect">
            <a:avLst/>
          </a:prstGeom>
        </p:spPr>
      </p:pic>
      <p:sp>
        <p:nvSpPr>
          <p:cNvPr id="549998326" name="Text 12"/>
          <p:cNvSpPr txBox="1"/>
          <p:nvPr/>
        </p:nvSpPr>
        <p:spPr bwMode="auto">
          <a:xfrm>
            <a:off x="1115568" y="3401568"/>
            <a:ext cx="4114800" cy="292608"/>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Demo video included</a:t>
            </a:r>
            <a:endParaRPr lang="en-US" sz="1500"/>
          </a:p>
        </p:txBody>
      </p:sp>
      <p:sp>
        <p:nvSpPr>
          <p:cNvPr id="1020257406" name="Text 13"/>
          <p:cNvSpPr txBox="1"/>
          <p:nvPr/>
        </p:nvSpPr>
        <p:spPr bwMode="auto">
          <a:xfrm>
            <a:off x="1115568" y="3694176"/>
            <a:ext cx="4114800" cy="256032"/>
          </a:xfrm>
          <a:prstGeom prst="rect">
            <a:avLst/>
          </a:prstGeom>
          <a:noFill/>
          <a:ln/>
        </p:spPr>
        <p:txBody>
          <a:bodyPr wrap="square" lIns="0" tIns="0" rIns="0" bIns="0" rtlCol="0" anchor="ctr"/>
          <a:lstStyle/>
          <a:p>
            <a:pPr marL="0" indent="0">
              <a:buNone/>
              <a:defRPr/>
            </a:pPr>
            <a:r>
              <a:rPr lang="en-US" sz="1150">
                <a:solidFill>
                  <a:srgbClr val="A9B4C2"/>
                </a:solidFill>
                <a:latin typeface="Arial"/>
                <a:ea typeface="Arial"/>
                <a:cs typeface="Arial"/>
              </a:rPr>
              <a:t>Something to transmit from the very first boot</a:t>
            </a:r>
            <a:endParaRPr lang="en-US" sz="1150"/>
          </a:p>
        </p:txBody>
      </p:sp>
      <p:sp>
        <p:nvSpPr>
          <p:cNvPr id="355899458" name="Shape 14"/>
          <p:cNvSpPr/>
          <p:nvPr/>
        </p:nvSpPr>
        <p:spPr bwMode="auto">
          <a:xfrm>
            <a:off x="457200" y="4151376"/>
            <a:ext cx="475488" cy="475488"/>
          </a:xfrm>
          <a:prstGeom prst="ellipse">
            <a:avLst/>
          </a:prstGeom>
          <a:solidFill>
            <a:srgbClr val="76B900"/>
          </a:solidFill>
          <a:ln/>
        </p:spPr>
        <p:txBody>
          <a:bodyPr/>
          <a:p>
            <a:pPr>
              <a:defRPr/>
            </a:pPr>
            <a:endParaRPr/>
          </a:p>
        </p:txBody>
      </p:sp>
      <p:pic>
        <p:nvPicPr>
          <p:cNvPr id="626870894" name="Image 3" descr="preencoded.png"/>
          <p:cNvPicPr>
            <a:picLocks noChangeAspect="1"/>
          </p:cNvPicPr>
          <p:nvPr/>
        </p:nvPicPr>
        <p:blipFill rotWithShape="1">
          <a:blip r:embed="rId6"/>
          <a:stretch/>
        </p:blipFill>
        <p:spPr bwMode="auto">
          <a:xfrm>
            <a:off x="576072" y="4270248"/>
            <a:ext cx="237744" cy="237744"/>
          </a:xfrm>
          <a:prstGeom prst="rect">
            <a:avLst/>
          </a:prstGeom>
        </p:spPr>
      </p:pic>
      <p:sp>
        <p:nvSpPr>
          <p:cNvPr id="1786162767" name="Text 15"/>
          <p:cNvSpPr txBox="1"/>
          <p:nvPr/>
        </p:nvSpPr>
        <p:spPr bwMode="auto">
          <a:xfrm>
            <a:off x="1115568" y="4114800"/>
            <a:ext cx="4114800" cy="292608"/>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Add your own videos</a:t>
            </a:r>
            <a:endParaRPr lang="en-US" sz="1500"/>
          </a:p>
        </p:txBody>
      </p:sp>
      <p:sp>
        <p:nvSpPr>
          <p:cNvPr id="1635466885" name="Text 16"/>
          <p:cNvSpPr txBox="1"/>
          <p:nvPr/>
        </p:nvSpPr>
        <p:spPr bwMode="auto">
          <a:xfrm>
            <a:off x="1115568" y="4407408"/>
            <a:ext cx="4114800" cy="256032"/>
          </a:xfrm>
          <a:prstGeom prst="rect">
            <a:avLst/>
          </a:prstGeom>
          <a:noFill/>
          <a:ln/>
        </p:spPr>
        <p:txBody>
          <a:bodyPr wrap="square" lIns="0" tIns="0" rIns="0" bIns="0" rtlCol="0" anchor="ctr"/>
          <a:lstStyle/>
          <a:p>
            <a:pPr marL="0" indent="0">
              <a:buNone/>
              <a:defRPr/>
            </a:pPr>
            <a:r>
              <a:rPr lang="en-US" sz="1150">
                <a:solidFill>
                  <a:srgbClr val="A9B4C2"/>
                </a:solidFill>
                <a:latin typeface="Arial"/>
                <a:ea typeface="Arial"/>
                <a:cs typeface="Arial"/>
              </a:rPr>
              <a:t>Upload clips from any browser to a USB drive</a:t>
            </a:r>
            <a:endParaRPr lang="en-US" sz="1150"/>
          </a:p>
        </p:txBody>
      </p:sp>
      <p:sp>
        <p:nvSpPr>
          <p:cNvPr id="1557601918" name="Shape 17"/>
          <p:cNvSpPr/>
          <p:nvPr/>
        </p:nvSpPr>
        <p:spPr bwMode="auto">
          <a:xfrm>
            <a:off x="5577840" y="1965960"/>
            <a:ext cx="3108960" cy="2697480"/>
          </a:xfrm>
          <a:prstGeom prst="roundRect">
            <a:avLst>
              <a:gd name="adj" fmla="val 5085"/>
            </a:avLst>
          </a:prstGeom>
          <a:solidFill>
            <a:srgbClr val="1A2029"/>
          </a:solidFill>
          <a:ln/>
          <a:effectLst>
            <a:outerShdw blurRad="101600" dist="38100" dir="5400000" algn="bl" rotWithShape="0">
              <a:srgbClr val="000000">
                <a:alpha val="45000"/>
              </a:srgbClr>
            </a:outerShdw>
          </a:effectLst>
        </p:spPr>
        <p:txBody>
          <a:bodyPr/>
          <a:p>
            <a:pPr>
              <a:defRPr/>
            </a:pPr>
            <a:endParaRPr/>
          </a:p>
        </p:txBody>
      </p:sp>
      <p:sp>
        <p:nvSpPr>
          <p:cNvPr id="533752429" name="Text 18"/>
          <p:cNvSpPr txBox="1"/>
          <p:nvPr/>
        </p:nvSpPr>
        <p:spPr bwMode="auto">
          <a:xfrm>
            <a:off x="5852160" y="2075688"/>
            <a:ext cx="2560320" cy="822960"/>
          </a:xfrm>
          <a:prstGeom prst="rect">
            <a:avLst/>
          </a:prstGeom>
          <a:noFill/>
          <a:ln/>
        </p:spPr>
        <p:txBody>
          <a:bodyPr wrap="square" lIns="0" tIns="0" rIns="0" bIns="0" rtlCol="0" anchor="b"/>
          <a:lstStyle/>
          <a:p>
            <a:pPr marL="0" indent="0">
              <a:buNone/>
              <a:defRPr/>
            </a:pPr>
            <a:r>
              <a:rPr lang="en-US" sz="6000" b="1">
                <a:solidFill>
                  <a:srgbClr val="E63946"/>
                </a:solidFill>
                <a:latin typeface="Arial"/>
                <a:ea typeface="Arial"/>
                <a:cs typeface="Arial"/>
              </a:rPr>
              <a:t>3</a:t>
            </a:r>
            <a:r>
              <a:rPr lang="en-US" sz="2600" b="1">
                <a:solidFill>
                  <a:srgbClr val="FFFFFF"/>
                </a:solidFill>
                <a:latin typeface="Arial"/>
                <a:ea typeface="Arial"/>
                <a:cs typeface="Arial"/>
              </a:rPr>
              <a:t> clicks</a:t>
            </a:r>
            <a:endParaRPr lang="en-US" sz="6000"/>
          </a:p>
        </p:txBody>
      </p:sp>
      <p:sp>
        <p:nvSpPr>
          <p:cNvPr id="1294376995" name="Text 19"/>
          <p:cNvSpPr txBox="1"/>
          <p:nvPr/>
        </p:nvSpPr>
        <p:spPr bwMode="auto">
          <a:xfrm>
            <a:off x="5852160" y="2898648"/>
            <a:ext cx="2560320" cy="292608"/>
          </a:xfrm>
          <a:prstGeom prst="rect">
            <a:avLst/>
          </a:prstGeom>
          <a:noFill/>
          <a:ln/>
        </p:spPr>
        <p:txBody>
          <a:bodyPr wrap="square" lIns="0" tIns="0" rIns="0" bIns="0" rtlCol="0" anchor="ctr"/>
          <a:lstStyle/>
          <a:p>
            <a:pPr marL="0" indent="0">
              <a:buNone/>
              <a:defRPr/>
            </a:pPr>
            <a:r>
              <a:rPr lang="en-US" sz="1500">
                <a:solidFill>
                  <a:srgbClr val="A9B4C2"/>
                </a:solidFill>
                <a:latin typeface="Arial"/>
                <a:ea typeface="Arial"/>
                <a:cs typeface="Arial"/>
              </a:rPr>
              <a:t>to go on air</a:t>
            </a:r>
            <a:endParaRPr lang="en-US" sz="1500"/>
          </a:p>
        </p:txBody>
      </p:sp>
      <p:sp>
        <p:nvSpPr>
          <p:cNvPr id="1095019654" name="Shape 20"/>
          <p:cNvSpPr/>
          <p:nvPr/>
        </p:nvSpPr>
        <p:spPr bwMode="auto">
          <a:xfrm>
            <a:off x="5852160" y="3337560"/>
            <a:ext cx="274320" cy="274320"/>
          </a:xfrm>
          <a:prstGeom prst="ellipse">
            <a:avLst/>
          </a:prstGeom>
          <a:solidFill>
            <a:srgbClr val="E63946"/>
          </a:solidFill>
          <a:ln/>
        </p:spPr>
        <p:txBody>
          <a:bodyPr/>
          <a:p>
            <a:pPr>
              <a:defRPr/>
            </a:pPr>
            <a:endParaRPr/>
          </a:p>
        </p:txBody>
      </p:sp>
      <p:sp>
        <p:nvSpPr>
          <p:cNvPr id="763193968" name="Text 21"/>
          <p:cNvSpPr txBox="1"/>
          <p:nvPr/>
        </p:nvSpPr>
        <p:spPr bwMode="auto">
          <a:xfrm>
            <a:off x="5852160" y="3337560"/>
            <a:ext cx="274320" cy="274320"/>
          </a:xfrm>
          <a:prstGeom prst="rect">
            <a:avLst/>
          </a:prstGeom>
          <a:noFill/>
          <a:ln/>
        </p:spPr>
        <p:txBody>
          <a:bodyPr wrap="square" lIns="0" tIns="0" rIns="0" bIns="0" rtlCol="0" anchor="ctr"/>
          <a:lstStyle/>
          <a:p>
            <a:pPr marL="0" indent="0" algn="ctr">
              <a:buNone/>
              <a:defRPr/>
            </a:pPr>
            <a:r>
              <a:rPr lang="en-US" sz="1100" b="1">
                <a:solidFill>
                  <a:srgbClr val="FFFFFF"/>
                </a:solidFill>
                <a:latin typeface="Arial"/>
                <a:ea typeface="Arial"/>
                <a:cs typeface="Arial"/>
              </a:rPr>
              <a:t>1</a:t>
            </a:r>
            <a:endParaRPr lang="en-US" sz="1100"/>
          </a:p>
        </p:txBody>
      </p:sp>
      <p:sp>
        <p:nvSpPr>
          <p:cNvPr id="812179844" name="Text 22"/>
          <p:cNvSpPr txBox="1"/>
          <p:nvPr/>
        </p:nvSpPr>
        <p:spPr bwMode="auto">
          <a:xfrm>
            <a:off x="6263640" y="3282696"/>
            <a:ext cx="2194560" cy="384048"/>
          </a:xfrm>
          <a:prstGeom prst="rect">
            <a:avLst/>
          </a:prstGeom>
          <a:noFill/>
          <a:ln/>
        </p:spPr>
        <p:txBody>
          <a:bodyPr wrap="square" lIns="0" tIns="0" rIns="0" bIns="0" rtlCol="0" anchor="ctr"/>
          <a:lstStyle/>
          <a:p>
            <a:pPr marL="0" indent="0">
              <a:buNone/>
              <a:defRPr/>
            </a:pPr>
            <a:r>
              <a:rPr lang="en-US" sz="1200">
                <a:solidFill>
                  <a:srgbClr val="FFFFFF"/>
                </a:solidFill>
                <a:latin typeface="Arial"/>
                <a:ea typeface="Arial"/>
                <a:cs typeface="Arial"/>
              </a:rPr>
              <a:t>Select source</a:t>
            </a:r>
            <a:endParaRPr lang="en-US" sz="1200"/>
          </a:p>
        </p:txBody>
      </p:sp>
      <p:sp>
        <p:nvSpPr>
          <p:cNvPr id="190291247" name="Shape 23"/>
          <p:cNvSpPr/>
          <p:nvPr/>
        </p:nvSpPr>
        <p:spPr bwMode="auto">
          <a:xfrm>
            <a:off x="5852160" y="3739896"/>
            <a:ext cx="274320" cy="274320"/>
          </a:xfrm>
          <a:prstGeom prst="ellipse">
            <a:avLst/>
          </a:prstGeom>
          <a:solidFill>
            <a:srgbClr val="E63946"/>
          </a:solidFill>
          <a:ln/>
        </p:spPr>
        <p:txBody>
          <a:bodyPr/>
          <a:p>
            <a:pPr>
              <a:defRPr/>
            </a:pPr>
            <a:endParaRPr/>
          </a:p>
        </p:txBody>
      </p:sp>
      <p:sp>
        <p:nvSpPr>
          <p:cNvPr id="1686355228" name="Text 24"/>
          <p:cNvSpPr txBox="1"/>
          <p:nvPr/>
        </p:nvSpPr>
        <p:spPr bwMode="auto">
          <a:xfrm>
            <a:off x="5852160" y="3739896"/>
            <a:ext cx="274320" cy="274320"/>
          </a:xfrm>
          <a:prstGeom prst="rect">
            <a:avLst/>
          </a:prstGeom>
          <a:noFill/>
          <a:ln/>
        </p:spPr>
        <p:txBody>
          <a:bodyPr wrap="square" lIns="0" tIns="0" rIns="0" bIns="0" rtlCol="0" anchor="ctr"/>
          <a:lstStyle/>
          <a:p>
            <a:pPr marL="0" indent="0" algn="ctr">
              <a:buNone/>
              <a:defRPr/>
            </a:pPr>
            <a:r>
              <a:rPr lang="en-US" sz="1100" b="1">
                <a:solidFill>
                  <a:srgbClr val="FFFFFF"/>
                </a:solidFill>
                <a:latin typeface="Arial"/>
                <a:ea typeface="Arial"/>
                <a:cs typeface="Arial"/>
              </a:rPr>
              <a:t>2</a:t>
            </a:r>
            <a:endParaRPr lang="en-US" sz="1100"/>
          </a:p>
        </p:txBody>
      </p:sp>
      <p:sp>
        <p:nvSpPr>
          <p:cNvPr id="407360076" name="Text 25"/>
          <p:cNvSpPr txBox="1"/>
          <p:nvPr/>
        </p:nvSpPr>
        <p:spPr bwMode="auto">
          <a:xfrm>
            <a:off x="6263640" y="3685032"/>
            <a:ext cx="2194560" cy="384048"/>
          </a:xfrm>
          <a:prstGeom prst="rect">
            <a:avLst/>
          </a:prstGeom>
          <a:noFill/>
          <a:ln/>
        </p:spPr>
        <p:txBody>
          <a:bodyPr wrap="square" lIns="0" tIns="0" rIns="0" bIns="0" rtlCol="0" anchor="ctr"/>
          <a:lstStyle/>
          <a:p>
            <a:pPr marL="0" indent="0">
              <a:buNone/>
              <a:defRPr/>
            </a:pPr>
            <a:r>
              <a:rPr lang="en-US" sz="1200">
                <a:solidFill>
                  <a:srgbClr val="FFFFFF"/>
                </a:solidFill>
                <a:latin typeface="Arial"/>
                <a:ea typeface="Arial"/>
                <a:cs typeface="Arial"/>
              </a:rPr>
              <a:t>Pick a free BATC slot</a:t>
            </a:r>
            <a:endParaRPr lang="en-US" sz="1200"/>
          </a:p>
        </p:txBody>
      </p:sp>
      <p:sp>
        <p:nvSpPr>
          <p:cNvPr id="1509709888" name="Shape 26"/>
          <p:cNvSpPr/>
          <p:nvPr/>
        </p:nvSpPr>
        <p:spPr bwMode="auto">
          <a:xfrm>
            <a:off x="5852160" y="4142232"/>
            <a:ext cx="274320" cy="274320"/>
          </a:xfrm>
          <a:prstGeom prst="ellipse">
            <a:avLst/>
          </a:prstGeom>
          <a:solidFill>
            <a:srgbClr val="E63946"/>
          </a:solidFill>
          <a:ln/>
        </p:spPr>
        <p:txBody>
          <a:bodyPr/>
          <a:p>
            <a:pPr>
              <a:defRPr/>
            </a:pPr>
            <a:endParaRPr/>
          </a:p>
        </p:txBody>
      </p:sp>
      <p:sp>
        <p:nvSpPr>
          <p:cNvPr id="40184116" name="Text 27"/>
          <p:cNvSpPr txBox="1"/>
          <p:nvPr/>
        </p:nvSpPr>
        <p:spPr bwMode="auto">
          <a:xfrm>
            <a:off x="5852160" y="4142232"/>
            <a:ext cx="274320" cy="274320"/>
          </a:xfrm>
          <a:prstGeom prst="rect">
            <a:avLst/>
          </a:prstGeom>
          <a:noFill/>
          <a:ln/>
        </p:spPr>
        <p:txBody>
          <a:bodyPr wrap="square" lIns="0" tIns="0" rIns="0" bIns="0" rtlCol="0" anchor="ctr"/>
          <a:lstStyle/>
          <a:p>
            <a:pPr marL="0" indent="0" algn="ctr">
              <a:buNone/>
              <a:defRPr/>
            </a:pPr>
            <a:r>
              <a:rPr lang="en-US" sz="1100" b="1">
                <a:solidFill>
                  <a:srgbClr val="FFFFFF"/>
                </a:solidFill>
                <a:latin typeface="Arial"/>
                <a:ea typeface="Arial"/>
                <a:cs typeface="Arial"/>
              </a:rPr>
              <a:t>3</a:t>
            </a:r>
            <a:endParaRPr lang="en-US" sz="1100"/>
          </a:p>
        </p:txBody>
      </p:sp>
      <p:sp>
        <p:nvSpPr>
          <p:cNvPr id="1695071418" name="Text 28"/>
          <p:cNvSpPr txBox="1"/>
          <p:nvPr/>
        </p:nvSpPr>
        <p:spPr bwMode="auto">
          <a:xfrm>
            <a:off x="6263640" y="4087368"/>
            <a:ext cx="2194560" cy="384048"/>
          </a:xfrm>
          <a:prstGeom prst="rect">
            <a:avLst/>
          </a:prstGeom>
          <a:noFill/>
          <a:ln/>
        </p:spPr>
        <p:txBody>
          <a:bodyPr wrap="square" lIns="0" tIns="0" rIns="0" bIns="0" rtlCol="0" anchor="ctr"/>
          <a:lstStyle/>
          <a:p>
            <a:pPr marL="0" indent="0">
              <a:buNone/>
              <a:defRPr/>
            </a:pPr>
            <a:r>
              <a:rPr lang="en-US" sz="1200">
                <a:solidFill>
                  <a:srgbClr val="FFFFFF"/>
                </a:solidFill>
                <a:latin typeface="Arial"/>
                <a:ea typeface="Arial"/>
                <a:cs typeface="Arial"/>
              </a:rPr>
              <a:t>Start stream</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E1217"/>
        </a:solidFill>
      </p:bgPr>
    </p:bg>
    <p:spTree>
      <p:nvGrpSpPr>
        <p:cNvPr id="1" name=""/>
        <p:cNvGrpSpPr/>
        <p:nvPr/>
      </p:nvGrpSpPr>
      <p:grpSpPr bwMode="auto">
        <a:xfrm>
          <a:off x="0" y="0"/>
          <a:ext cx="0" cy="0"/>
          <a:chOff x="0" y="0"/>
          <a:chExt cx="0" cy="0"/>
        </a:xfrm>
      </p:grpSpPr>
      <p:sp>
        <p:nvSpPr>
          <p:cNvPr id="1724559165" name="TextBox 1"/>
          <p:cNvSpPr txBox="1"/>
          <p:nvPr/>
        </p:nvSpPr>
        <p:spPr bwMode="auto">
          <a:xfrm>
            <a:off x="457200" y="118872"/>
            <a:ext cx="8229600" cy="685800"/>
          </a:xfrm>
          <a:prstGeom prst="rect">
            <a:avLst/>
          </a:prstGeom>
          <a:noFill/>
        </p:spPr>
        <p:txBody>
          <a:bodyPr wrap="square" lIns="0" tIns="0" rIns="0" bIns="0" anchor="ctr">
            <a:spAutoFit/>
          </a:bodyPr>
          <a:lstStyle/>
          <a:p>
            <a:pPr algn="l">
              <a:defRPr/>
            </a:pPr>
            <a:r>
              <a:rPr sz="3600" b="1" i="0">
                <a:solidFill>
                  <a:srgbClr val="FFFFFF"/>
                </a:solidFill>
                <a:latin typeface="Arial"/>
              </a:rPr>
              <a:t>One web app, five pages</a:t>
            </a:r>
            <a:endParaRPr/>
          </a:p>
        </p:txBody>
      </p:sp>
      <p:sp>
        <p:nvSpPr>
          <p:cNvPr id="1013455288" name="TextBox 2"/>
          <p:cNvSpPr txBox="1"/>
          <p:nvPr/>
        </p:nvSpPr>
        <p:spPr bwMode="auto">
          <a:xfrm>
            <a:off x="457200" y="923544"/>
            <a:ext cx="8229600" cy="274320"/>
          </a:xfrm>
          <a:prstGeom prst="rect">
            <a:avLst/>
          </a:prstGeom>
          <a:noFill/>
        </p:spPr>
        <p:txBody>
          <a:bodyPr wrap="square" lIns="0" tIns="0" rIns="0" bIns="0" anchor="ctr">
            <a:spAutoFit/>
          </a:bodyPr>
          <a:lstStyle/>
          <a:p>
            <a:pPr algn="l">
              <a:defRPr/>
            </a:pPr>
            <a:r>
              <a:rPr sz="1100" b="1" i="0" spc="200">
                <a:solidFill>
                  <a:srgbClr val="76B900"/>
                </a:solidFill>
                <a:latin typeface="Arial"/>
              </a:rPr>
              <a:t>JETSON DATV  ·  WEB UI  ·  ANY BROWSER</a:t>
            </a:r>
            <a:endParaRPr/>
          </a:p>
        </p:txBody>
      </p:sp>
      <p:sp>
        <p:nvSpPr>
          <p:cNvPr id="99020407" name="TextBox 3"/>
          <p:cNvSpPr txBox="1"/>
          <p:nvPr/>
        </p:nvSpPr>
        <p:spPr bwMode="auto">
          <a:xfrm>
            <a:off x="457200" y="1387199"/>
            <a:ext cx="8230679" cy="244199"/>
          </a:xfrm>
          <a:prstGeom prst="rect">
            <a:avLst/>
          </a:prstGeom>
          <a:noFill/>
        </p:spPr>
        <p:txBody>
          <a:bodyPr wrap="square" lIns="0" tIns="0" rIns="0" bIns="0" anchor="ctr">
            <a:spAutoFit/>
          </a:bodyPr>
          <a:lstStyle/>
          <a:p>
            <a:pPr algn="l">
              <a:defRPr/>
            </a:pPr>
            <a:r>
              <a:rPr sz="1600" b="0" i="1">
                <a:solidFill>
                  <a:srgbClr val="A9B4C2"/>
                </a:solidFill>
                <a:latin typeface="Arial"/>
              </a:rPr>
              <a:t>O</a:t>
            </a:r>
            <a:r>
              <a:rPr sz="1600" b="0" i="1">
                <a:solidFill>
                  <a:srgbClr val="A9B4C2"/>
                </a:solidFill>
                <a:latin typeface="Arial"/>
              </a:rPr>
              <a:t>pen http://jetson-nano.local and you have the whole station.</a:t>
            </a:r>
            <a:endParaRPr/>
          </a:p>
        </p:txBody>
      </p:sp>
      <p:sp>
        <p:nvSpPr>
          <p:cNvPr id="479343141" name="Rounded Rectangle 4"/>
          <p:cNvSpPr/>
          <p:nvPr/>
        </p:nvSpPr>
        <p:spPr bwMode="auto">
          <a:xfrm>
            <a:off x="457200" y="1965960"/>
            <a:ext cx="1499616" cy="2423160"/>
          </a:xfrm>
          <a:prstGeom prst="roundRect">
            <a:avLst>
              <a:gd name="adj" fmla="val 7317"/>
            </a:avLst>
          </a:prstGeom>
          <a:solidFill>
            <a:srgbClr val="1A2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055600896" name="Picture 5" descr="t_home.png"/>
          <p:cNvPicPr>
            <a:picLocks noChangeAspect="1"/>
          </p:cNvPicPr>
          <p:nvPr/>
        </p:nvPicPr>
        <p:blipFill rotWithShape="1">
          <a:blip r:embed="rId3"/>
          <a:srcRect l="0" t="0" r="23789" b="0"/>
          <a:stretch/>
        </p:blipFill>
        <p:spPr bwMode="auto">
          <a:xfrm>
            <a:off x="548640" y="2057400"/>
            <a:ext cx="1316736" cy="1143000"/>
          </a:xfrm>
          <a:prstGeom prst="rect">
            <a:avLst/>
          </a:prstGeom>
          <a:ln w="9525">
            <a:solidFill>
              <a:srgbClr val="2A3340"/>
            </a:solidFill>
          </a:ln>
        </p:spPr>
      </p:pic>
      <p:sp>
        <p:nvSpPr>
          <p:cNvPr id="1496125052" name="Oval 6"/>
          <p:cNvSpPr/>
          <p:nvPr/>
        </p:nvSpPr>
        <p:spPr bwMode="auto">
          <a:xfrm>
            <a:off x="548640" y="3355848"/>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644937798" name="Picture 7" descr="MdHome.png"/>
          <p:cNvPicPr>
            <a:picLocks noChangeAspect="1"/>
          </p:cNvPicPr>
          <p:nvPr/>
        </p:nvPicPr>
        <p:blipFill rotWithShape="1">
          <a:blip r:embed="rId4"/>
          <a:stretch/>
        </p:blipFill>
        <p:spPr bwMode="auto">
          <a:xfrm>
            <a:off x="640080" y="3447288"/>
            <a:ext cx="182880" cy="182880"/>
          </a:xfrm>
          <a:prstGeom prst="rect">
            <a:avLst/>
          </a:prstGeom>
        </p:spPr>
      </p:pic>
      <p:sp>
        <p:nvSpPr>
          <p:cNvPr id="1004375806" name="TextBox 8"/>
          <p:cNvSpPr txBox="1"/>
          <p:nvPr/>
        </p:nvSpPr>
        <p:spPr bwMode="auto">
          <a:xfrm>
            <a:off x="987552" y="3355848"/>
            <a:ext cx="923543" cy="365760"/>
          </a:xfrm>
          <a:prstGeom prst="rect">
            <a:avLst/>
          </a:prstGeom>
          <a:noFill/>
        </p:spPr>
        <p:txBody>
          <a:bodyPr wrap="square" lIns="0" tIns="0" rIns="0" bIns="0" anchor="ctr">
            <a:spAutoFit/>
          </a:bodyPr>
          <a:lstStyle/>
          <a:p>
            <a:pPr algn="l">
              <a:defRPr/>
            </a:pPr>
            <a:r>
              <a:rPr sz="1300" b="1" i="0">
                <a:solidFill>
                  <a:srgbClr val="FFFFFF"/>
                </a:solidFill>
                <a:latin typeface="Arial"/>
              </a:rPr>
              <a:t>Home</a:t>
            </a:r>
            <a:endParaRPr/>
          </a:p>
        </p:txBody>
      </p:sp>
      <p:sp>
        <p:nvSpPr>
          <p:cNvPr id="1840282307" name="TextBox 9"/>
          <p:cNvSpPr txBox="1"/>
          <p:nvPr/>
        </p:nvSpPr>
        <p:spPr bwMode="auto">
          <a:xfrm>
            <a:off x="548640" y="3840479"/>
            <a:ext cx="1316736" cy="685800"/>
          </a:xfrm>
          <a:prstGeom prst="rect">
            <a:avLst/>
          </a:prstGeom>
          <a:noFill/>
        </p:spPr>
        <p:txBody>
          <a:bodyPr wrap="square" lIns="0" tIns="0" rIns="0" bIns="0" anchor="t">
            <a:spAutoFit/>
          </a:bodyPr>
          <a:lstStyle/>
          <a:p>
            <a:pPr algn="l">
              <a:defRPr/>
            </a:pPr>
            <a:r>
              <a:rPr sz="1050" b="0" i="0">
                <a:solidFill>
                  <a:srgbClr val="A9B4C2"/>
                </a:solidFill>
                <a:latin typeface="Arial"/>
              </a:rPr>
              <a:t>Pick a source and a slot, go on air</a:t>
            </a:r>
            <a:endParaRPr/>
          </a:p>
        </p:txBody>
      </p:sp>
      <p:sp>
        <p:nvSpPr>
          <p:cNvPr id="1667666850" name="Rounded Rectangle 10"/>
          <p:cNvSpPr/>
          <p:nvPr/>
        </p:nvSpPr>
        <p:spPr bwMode="auto">
          <a:xfrm>
            <a:off x="2139696" y="1965960"/>
            <a:ext cx="1499616" cy="2423160"/>
          </a:xfrm>
          <a:prstGeom prst="roundRect">
            <a:avLst>
              <a:gd name="adj" fmla="val 7317"/>
            </a:avLst>
          </a:prstGeom>
          <a:solidFill>
            <a:srgbClr val="1A2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444390212" name="Picture 11" descr="t_rx.png"/>
          <p:cNvPicPr>
            <a:picLocks noChangeAspect="1"/>
          </p:cNvPicPr>
          <p:nvPr/>
        </p:nvPicPr>
        <p:blipFill rotWithShape="1">
          <a:blip r:embed="rId5"/>
          <a:srcRect l="0" t="0" r="22816" b="0"/>
          <a:stretch/>
        </p:blipFill>
        <p:spPr bwMode="auto">
          <a:xfrm>
            <a:off x="2231136" y="2057400"/>
            <a:ext cx="1316736" cy="1143000"/>
          </a:xfrm>
          <a:prstGeom prst="rect">
            <a:avLst/>
          </a:prstGeom>
          <a:ln w="9525">
            <a:solidFill>
              <a:srgbClr val="2A3340"/>
            </a:solidFill>
          </a:ln>
        </p:spPr>
      </p:pic>
      <p:sp>
        <p:nvSpPr>
          <p:cNvPr id="1993828422" name="Oval 12"/>
          <p:cNvSpPr/>
          <p:nvPr/>
        </p:nvSpPr>
        <p:spPr bwMode="auto">
          <a:xfrm>
            <a:off x="2231136" y="3355848"/>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488718797" name="Picture 13" descr="MdSatelliteAlt.png"/>
          <p:cNvPicPr>
            <a:picLocks noChangeAspect="1"/>
          </p:cNvPicPr>
          <p:nvPr/>
        </p:nvPicPr>
        <p:blipFill rotWithShape="1">
          <a:blip r:embed="rId6"/>
          <a:stretch/>
        </p:blipFill>
        <p:spPr bwMode="auto">
          <a:xfrm>
            <a:off x="2322576" y="3447288"/>
            <a:ext cx="182880" cy="182880"/>
          </a:xfrm>
          <a:prstGeom prst="rect">
            <a:avLst/>
          </a:prstGeom>
        </p:spPr>
      </p:pic>
      <p:sp>
        <p:nvSpPr>
          <p:cNvPr id="1427067722" name="TextBox 14"/>
          <p:cNvSpPr txBox="1"/>
          <p:nvPr/>
        </p:nvSpPr>
        <p:spPr bwMode="auto">
          <a:xfrm>
            <a:off x="2670048" y="3355848"/>
            <a:ext cx="923543" cy="365760"/>
          </a:xfrm>
          <a:prstGeom prst="rect">
            <a:avLst/>
          </a:prstGeom>
          <a:noFill/>
        </p:spPr>
        <p:txBody>
          <a:bodyPr wrap="square" lIns="0" tIns="0" rIns="0" bIns="0" anchor="ctr">
            <a:spAutoFit/>
          </a:bodyPr>
          <a:lstStyle/>
          <a:p>
            <a:pPr algn="l">
              <a:defRPr/>
            </a:pPr>
            <a:r>
              <a:rPr sz="1300" b="1" i="0">
                <a:solidFill>
                  <a:srgbClr val="FFFFFF"/>
                </a:solidFill>
                <a:latin typeface="Arial"/>
              </a:rPr>
              <a:t>RX</a:t>
            </a:r>
            <a:endParaRPr/>
          </a:p>
        </p:txBody>
      </p:sp>
      <p:sp>
        <p:nvSpPr>
          <p:cNvPr id="267915394" name="TextBox 15"/>
          <p:cNvSpPr txBox="1"/>
          <p:nvPr/>
        </p:nvSpPr>
        <p:spPr bwMode="auto">
          <a:xfrm>
            <a:off x="2231136" y="3840479"/>
            <a:ext cx="1316736" cy="685800"/>
          </a:xfrm>
          <a:prstGeom prst="rect">
            <a:avLst/>
          </a:prstGeom>
          <a:noFill/>
        </p:spPr>
        <p:txBody>
          <a:bodyPr wrap="square" lIns="0" tIns="0" rIns="0" bIns="0" anchor="t">
            <a:spAutoFit/>
          </a:bodyPr>
          <a:lstStyle/>
          <a:p>
            <a:pPr algn="l">
              <a:defRPr/>
            </a:pPr>
            <a:r>
              <a:rPr sz="1050" b="0" i="0">
                <a:solidFill>
                  <a:srgbClr val="A9B4C2"/>
                </a:solidFill>
                <a:latin typeface="Arial"/>
              </a:rPr>
              <a:t>Watch QO-100 via OpenTuner</a:t>
            </a:r>
            <a:endParaRPr/>
          </a:p>
        </p:txBody>
      </p:sp>
      <p:sp>
        <p:nvSpPr>
          <p:cNvPr id="2104598424" name="Rounded Rectangle 16"/>
          <p:cNvSpPr/>
          <p:nvPr/>
        </p:nvSpPr>
        <p:spPr bwMode="auto">
          <a:xfrm>
            <a:off x="3822191" y="1965960"/>
            <a:ext cx="1499616" cy="2423160"/>
          </a:xfrm>
          <a:prstGeom prst="roundRect">
            <a:avLst>
              <a:gd name="adj" fmla="val 7317"/>
            </a:avLst>
          </a:prstGeom>
          <a:solidFill>
            <a:srgbClr val="1A2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680411951" name="Picture 17" descr="t_setup.png"/>
          <p:cNvPicPr>
            <a:picLocks noChangeAspect="1"/>
          </p:cNvPicPr>
          <p:nvPr/>
        </p:nvPicPr>
        <p:blipFill rotWithShape="1">
          <a:blip r:embed="rId7"/>
          <a:srcRect l="0" t="0" r="33633" b="0"/>
          <a:stretch/>
        </p:blipFill>
        <p:spPr bwMode="auto">
          <a:xfrm>
            <a:off x="3913630" y="2057400"/>
            <a:ext cx="1316736" cy="1143000"/>
          </a:xfrm>
          <a:prstGeom prst="rect">
            <a:avLst/>
          </a:prstGeom>
          <a:ln w="9525">
            <a:solidFill>
              <a:srgbClr val="2A3340"/>
            </a:solidFill>
          </a:ln>
        </p:spPr>
      </p:pic>
      <p:sp>
        <p:nvSpPr>
          <p:cNvPr id="1817593768" name="Oval 18"/>
          <p:cNvSpPr/>
          <p:nvPr/>
        </p:nvSpPr>
        <p:spPr bwMode="auto">
          <a:xfrm>
            <a:off x="3913630" y="3355848"/>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221523664" name="Picture 19" descr="MdSettings.png"/>
          <p:cNvPicPr>
            <a:picLocks noChangeAspect="1"/>
          </p:cNvPicPr>
          <p:nvPr/>
        </p:nvPicPr>
        <p:blipFill rotWithShape="1">
          <a:blip r:embed="rId8"/>
          <a:stretch/>
        </p:blipFill>
        <p:spPr bwMode="auto">
          <a:xfrm>
            <a:off x="4005071" y="3447288"/>
            <a:ext cx="182880" cy="182880"/>
          </a:xfrm>
          <a:prstGeom prst="rect">
            <a:avLst/>
          </a:prstGeom>
        </p:spPr>
      </p:pic>
      <p:sp>
        <p:nvSpPr>
          <p:cNvPr id="1047829102" name="TextBox 20"/>
          <p:cNvSpPr txBox="1"/>
          <p:nvPr/>
        </p:nvSpPr>
        <p:spPr bwMode="auto">
          <a:xfrm>
            <a:off x="4352544" y="3355848"/>
            <a:ext cx="923543" cy="365760"/>
          </a:xfrm>
          <a:prstGeom prst="rect">
            <a:avLst/>
          </a:prstGeom>
          <a:noFill/>
        </p:spPr>
        <p:txBody>
          <a:bodyPr wrap="square" lIns="0" tIns="0" rIns="0" bIns="0" anchor="ctr">
            <a:spAutoFit/>
          </a:bodyPr>
          <a:lstStyle/>
          <a:p>
            <a:pPr algn="l">
              <a:defRPr/>
            </a:pPr>
            <a:r>
              <a:rPr sz="1300" b="1" i="0">
                <a:solidFill>
                  <a:srgbClr val="FFFFFF"/>
                </a:solidFill>
                <a:latin typeface="Arial"/>
              </a:rPr>
              <a:t>Setup</a:t>
            </a:r>
            <a:endParaRPr/>
          </a:p>
        </p:txBody>
      </p:sp>
      <p:sp>
        <p:nvSpPr>
          <p:cNvPr id="109396423" name="TextBox 21"/>
          <p:cNvSpPr txBox="1"/>
          <p:nvPr/>
        </p:nvSpPr>
        <p:spPr bwMode="auto">
          <a:xfrm>
            <a:off x="3913630" y="3840479"/>
            <a:ext cx="1316736" cy="685800"/>
          </a:xfrm>
          <a:prstGeom prst="rect">
            <a:avLst/>
          </a:prstGeom>
          <a:noFill/>
        </p:spPr>
        <p:txBody>
          <a:bodyPr wrap="square" lIns="0" tIns="0" rIns="0" bIns="0" anchor="t">
            <a:spAutoFit/>
          </a:bodyPr>
          <a:lstStyle/>
          <a:p>
            <a:pPr algn="l">
              <a:defRPr/>
            </a:pPr>
            <a:r>
              <a:rPr sz="1050" b="0" i="0">
                <a:solidFill>
                  <a:srgbClr val="A9B4C2"/>
                </a:solidFill>
                <a:latin typeface="Arial"/>
              </a:rPr>
              <a:t>Callsign, overlays, tuner, USB</a:t>
            </a:r>
            <a:endParaRPr/>
          </a:p>
        </p:txBody>
      </p:sp>
      <p:sp>
        <p:nvSpPr>
          <p:cNvPr id="2032436958" name="Rounded Rectangle 22"/>
          <p:cNvSpPr/>
          <p:nvPr/>
        </p:nvSpPr>
        <p:spPr bwMode="auto">
          <a:xfrm>
            <a:off x="5504687" y="1965960"/>
            <a:ext cx="1499616" cy="2423160"/>
          </a:xfrm>
          <a:prstGeom prst="roundRect">
            <a:avLst>
              <a:gd name="adj" fmla="val 7317"/>
            </a:avLst>
          </a:prstGeom>
          <a:solidFill>
            <a:srgbClr val="1A2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2066954971" name="Picture 23" descr="t_lib.png"/>
          <p:cNvPicPr>
            <a:picLocks noChangeAspect="1"/>
          </p:cNvPicPr>
          <p:nvPr/>
        </p:nvPicPr>
        <p:blipFill rotWithShape="1">
          <a:blip r:embed="rId9"/>
          <a:srcRect l="0" t="0" r="33127" b="0"/>
          <a:stretch/>
        </p:blipFill>
        <p:spPr bwMode="auto">
          <a:xfrm>
            <a:off x="5596127" y="2057400"/>
            <a:ext cx="1316736" cy="1143000"/>
          </a:xfrm>
          <a:prstGeom prst="rect">
            <a:avLst/>
          </a:prstGeom>
          <a:ln w="9525">
            <a:solidFill>
              <a:srgbClr val="2A3340"/>
            </a:solidFill>
          </a:ln>
        </p:spPr>
      </p:pic>
      <p:sp>
        <p:nvSpPr>
          <p:cNvPr id="2038369734" name="Oval 24"/>
          <p:cNvSpPr/>
          <p:nvPr/>
        </p:nvSpPr>
        <p:spPr bwMode="auto">
          <a:xfrm>
            <a:off x="5596127" y="3355848"/>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861009930" name="Picture 25" descr="MdVideoLibrary.png"/>
          <p:cNvPicPr>
            <a:picLocks noChangeAspect="1"/>
          </p:cNvPicPr>
          <p:nvPr/>
        </p:nvPicPr>
        <p:blipFill rotWithShape="1">
          <a:blip r:embed="rId10"/>
          <a:stretch/>
        </p:blipFill>
        <p:spPr bwMode="auto">
          <a:xfrm>
            <a:off x="5687567" y="3447288"/>
            <a:ext cx="182880" cy="182880"/>
          </a:xfrm>
          <a:prstGeom prst="rect">
            <a:avLst/>
          </a:prstGeom>
        </p:spPr>
      </p:pic>
      <p:sp>
        <p:nvSpPr>
          <p:cNvPr id="1870667395" name="TextBox 26"/>
          <p:cNvSpPr txBox="1"/>
          <p:nvPr/>
        </p:nvSpPr>
        <p:spPr bwMode="auto">
          <a:xfrm>
            <a:off x="6035039" y="3355848"/>
            <a:ext cx="923543" cy="365760"/>
          </a:xfrm>
          <a:prstGeom prst="rect">
            <a:avLst/>
          </a:prstGeom>
          <a:noFill/>
        </p:spPr>
        <p:txBody>
          <a:bodyPr wrap="square" lIns="0" tIns="0" rIns="0" bIns="0" anchor="ctr">
            <a:spAutoFit/>
          </a:bodyPr>
          <a:lstStyle/>
          <a:p>
            <a:pPr algn="l">
              <a:defRPr/>
            </a:pPr>
            <a:r>
              <a:rPr sz="1300" b="1" i="0">
                <a:solidFill>
                  <a:srgbClr val="FFFFFF"/>
                </a:solidFill>
                <a:latin typeface="Arial"/>
              </a:rPr>
              <a:t>Video Library</a:t>
            </a:r>
            <a:endParaRPr/>
          </a:p>
        </p:txBody>
      </p:sp>
      <p:sp>
        <p:nvSpPr>
          <p:cNvPr id="282568032" name="TextBox 27"/>
          <p:cNvSpPr txBox="1"/>
          <p:nvPr/>
        </p:nvSpPr>
        <p:spPr bwMode="auto">
          <a:xfrm>
            <a:off x="5596127" y="3840479"/>
            <a:ext cx="1316736" cy="685800"/>
          </a:xfrm>
          <a:prstGeom prst="rect">
            <a:avLst/>
          </a:prstGeom>
          <a:noFill/>
        </p:spPr>
        <p:txBody>
          <a:bodyPr wrap="square" lIns="0" tIns="0" rIns="0" bIns="0" anchor="t">
            <a:spAutoFit/>
          </a:bodyPr>
          <a:lstStyle/>
          <a:p>
            <a:pPr algn="l">
              <a:defRPr/>
            </a:pPr>
            <a:r>
              <a:rPr sz="1050" b="0" i="0">
                <a:solidFill>
                  <a:srgbClr val="A9B4C2"/>
                </a:solidFill>
                <a:latin typeface="Arial"/>
              </a:rPr>
              <a:t>Upload and prepare clips</a:t>
            </a:r>
            <a:endParaRPr/>
          </a:p>
        </p:txBody>
      </p:sp>
      <p:sp>
        <p:nvSpPr>
          <p:cNvPr id="1094892811" name="Rounded Rectangle 28"/>
          <p:cNvSpPr/>
          <p:nvPr/>
        </p:nvSpPr>
        <p:spPr bwMode="auto">
          <a:xfrm>
            <a:off x="7187183" y="1965960"/>
            <a:ext cx="1499616" cy="2423160"/>
          </a:xfrm>
          <a:prstGeom prst="roundRect">
            <a:avLst>
              <a:gd name="adj" fmla="val 7317"/>
            </a:avLst>
          </a:prstGeom>
          <a:solidFill>
            <a:srgbClr val="1A2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829520341" name="Picture 29" descr="t_help.png"/>
          <p:cNvPicPr>
            <a:picLocks noChangeAspect="1"/>
          </p:cNvPicPr>
          <p:nvPr/>
        </p:nvPicPr>
        <p:blipFill rotWithShape="1">
          <a:blip r:embed="rId11"/>
          <a:srcRect l="0" t="0" r="6590" b="0"/>
          <a:stretch/>
        </p:blipFill>
        <p:spPr bwMode="auto">
          <a:xfrm>
            <a:off x="7278623" y="2057400"/>
            <a:ext cx="1316736" cy="1143000"/>
          </a:xfrm>
          <a:prstGeom prst="rect">
            <a:avLst/>
          </a:prstGeom>
          <a:ln w="9525">
            <a:solidFill>
              <a:srgbClr val="2A3340"/>
            </a:solidFill>
          </a:ln>
        </p:spPr>
      </p:pic>
      <p:sp>
        <p:nvSpPr>
          <p:cNvPr id="821908043" name="Oval 30"/>
          <p:cNvSpPr/>
          <p:nvPr/>
        </p:nvSpPr>
        <p:spPr bwMode="auto">
          <a:xfrm>
            <a:off x="7278623" y="3355848"/>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556958207" name="Picture 31" descr="MdHelpOutline.png"/>
          <p:cNvPicPr>
            <a:picLocks noChangeAspect="1"/>
          </p:cNvPicPr>
          <p:nvPr/>
        </p:nvPicPr>
        <p:blipFill rotWithShape="1">
          <a:blip r:embed="rId12"/>
          <a:stretch/>
        </p:blipFill>
        <p:spPr bwMode="auto">
          <a:xfrm>
            <a:off x="7370063" y="3447288"/>
            <a:ext cx="182880" cy="182880"/>
          </a:xfrm>
          <a:prstGeom prst="rect">
            <a:avLst/>
          </a:prstGeom>
        </p:spPr>
      </p:pic>
      <p:sp>
        <p:nvSpPr>
          <p:cNvPr id="1986282379" name="TextBox 32"/>
          <p:cNvSpPr txBox="1"/>
          <p:nvPr/>
        </p:nvSpPr>
        <p:spPr bwMode="auto">
          <a:xfrm>
            <a:off x="7717536" y="3355848"/>
            <a:ext cx="923543" cy="365760"/>
          </a:xfrm>
          <a:prstGeom prst="rect">
            <a:avLst/>
          </a:prstGeom>
          <a:noFill/>
        </p:spPr>
        <p:txBody>
          <a:bodyPr wrap="square" lIns="0" tIns="0" rIns="0" bIns="0" anchor="ctr">
            <a:spAutoFit/>
          </a:bodyPr>
          <a:lstStyle/>
          <a:p>
            <a:pPr algn="l">
              <a:defRPr/>
            </a:pPr>
            <a:r>
              <a:rPr sz="1300" b="1" i="0">
                <a:solidFill>
                  <a:srgbClr val="FFFFFF"/>
                </a:solidFill>
                <a:latin typeface="Arial"/>
              </a:rPr>
              <a:t>Help</a:t>
            </a:r>
            <a:endParaRPr/>
          </a:p>
        </p:txBody>
      </p:sp>
      <p:sp>
        <p:nvSpPr>
          <p:cNvPr id="952417107" name="TextBox 33"/>
          <p:cNvSpPr txBox="1"/>
          <p:nvPr/>
        </p:nvSpPr>
        <p:spPr bwMode="auto">
          <a:xfrm>
            <a:off x="7278623" y="3840479"/>
            <a:ext cx="1316736" cy="685800"/>
          </a:xfrm>
          <a:prstGeom prst="rect">
            <a:avLst/>
          </a:prstGeom>
          <a:noFill/>
        </p:spPr>
        <p:txBody>
          <a:bodyPr wrap="square" lIns="0" tIns="0" rIns="0" bIns="0" anchor="t">
            <a:spAutoFit/>
          </a:bodyPr>
          <a:lstStyle/>
          <a:p>
            <a:pPr algn="l">
              <a:defRPr/>
            </a:pPr>
            <a:r>
              <a:rPr sz="1050" b="0" i="0">
                <a:solidFill>
                  <a:srgbClr val="A9B4C2"/>
                </a:solidFill>
                <a:latin typeface="Arial"/>
              </a:rPr>
              <a:t>Quick start and troubleshooting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E1217"/>
        </a:solidFill>
      </p:bgPr>
    </p:bg>
    <p:spTree>
      <p:nvGrpSpPr>
        <p:cNvPr id="1" name=""/>
        <p:cNvGrpSpPr/>
        <p:nvPr/>
      </p:nvGrpSpPr>
      <p:grpSpPr bwMode="auto">
        <a:xfrm>
          <a:off x="0" y="0"/>
          <a:ext cx="0" cy="0"/>
          <a:chOff x="0" y="0"/>
          <a:chExt cx="0" cy="0"/>
        </a:xfrm>
      </p:grpSpPr>
      <p:sp>
        <p:nvSpPr>
          <p:cNvPr id="1760041001" name="TextBox 1"/>
          <p:cNvSpPr txBox="1"/>
          <p:nvPr/>
        </p:nvSpPr>
        <p:spPr bwMode="auto">
          <a:xfrm>
            <a:off x="457200" y="118872"/>
            <a:ext cx="8229600" cy="685800"/>
          </a:xfrm>
          <a:prstGeom prst="rect">
            <a:avLst/>
          </a:prstGeom>
          <a:noFill/>
        </p:spPr>
        <p:txBody>
          <a:bodyPr wrap="square" lIns="0" tIns="0" rIns="0" bIns="0" anchor="ctr">
            <a:spAutoFit/>
          </a:bodyPr>
          <a:lstStyle/>
          <a:p>
            <a:pPr algn="l">
              <a:defRPr/>
            </a:pPr>
            <a:r>
              <a:rPr sz="3600" b="1" i="0">
                <a:solidFill>
                  <a:srgbClr val="FFFFFF"/>
                </a:solidFill>
                <a:latin typeface="Arial"/>
              </a:rPr>
              <a:t>Home: three steps to air</a:t>
            </a:r>
            <a:endParaRPr/>
          </a:p>
        </p:txBody>
      </p:sp>
      <p:sp>
        <p:nvSpPr>
          <p:cNvPr id="884768840" name="TextBox 2"/>
          <p:cNvSpPr txBox="1"/>
          <p:nvPr/>
        </p:nvSpPr>
        <p:spPr bwMode="auto">
          <a:xfrm>
            <a:off x="457200" y="923544"/>
            <a:ext cx="8229600" cy="274320"/>
          </a:xfrm>
          <a:prstGeom prst="rect">
            <a:avLst/>
          </a:prstGeom>
          <a:noFill/>
        </p:spPr>
        <p:txBody>
          <a:bodyPr wrap="square" lIns="0" tIns="0" rIns="0" bIns="0" anchor="ctr">
            <a:spAutoFit/>
          </a:bodyPr>
          <a:lstStyle/>
          <a:p>
            <a:pPr algn="l">
              <a:defRPr/>
            </a:pPr>
            <a:r>
              <a:rPr sz="1100" b="1" i="0" spc="200">
                <a:solidFill>
                  <a:srgbClr val="76B900"/>
                </a:solidFill>
                <a:latin typeface="Arial"/>
              </a:rPr>
              <a:t>HOME PAGE  ·  SELECT  ·  CONFIGURE  ·  GO LIVE</a:t>
            </a:r>
            <a:endParaRPr/>
          </a:p>
        </p:txBody>
      </p:sp>
      <p:sp>
        <p:nvSpPr>
          <p:cNvPr id="1539607926" name="TextBox 3"/>
          <p:cNvSpPr txBox="1"/>
          <p:nvPr/>
        </p:nvSpPr>
        <p:spPr bwMode="auto">
          <a:xfrm>
            <a:off x="457200" y="1387199"/>
            <a:ext cx="8230679" cy="244199"/>
          </a:xfrm>
          <a:prstGeom prst="rect">
            <a:avLst/>
          </a:prstGeom>
          <a:noFill/>
        </p:spPr>
        <p:txBody>
          <a:bodyPr wrap="square" lIns="0" tIns="0" rIns="0" bIns="0" anchor="ctr">
            <a:spAutoFit/>
          </a:bodyPr>
          <a:lstStyle/>
          <a:p>
            <a:pPr algn="l">
              <a:defRPr/>
            </a:pPr>
            <a:r>
              <a:rPr sz="1600" b="0" i="1">
                <a:solidFill>
                  <a:srgbClr val="A9B4C2"/>
                </a:solidFill>
                <a:latin typeface="Arial"/>
              </a:rPr>
              <a:t>The page is built around three clicks.</a:t>
            </a:r>
            <a:endParaRPr/>
          </a:p>
        </p:txBody>
      </p:sp>
      <p:pic>
        <p:nvPicPr>
          <p:cNvPr id="1358800497" name="Picture 4" descr="t_home.png"/>
          <p:cNvPicPr>
            <a:picLocks noChangeAspect="1"/>
          </p:cNvPicPr>
          <p:nvPr/>
        </p:nvPicPr>
        <p:blipFill rotWithShape="1">
          <a:blip r:embed="rId3"/>
          <a:stretch/>
        </p:blipFill>
        <p:spPr bwMode="auto">
          <a:xfrm>
            <a:off x="457200" y="1920240"/>
            <a:ext cx="4284920" cy="2834640"/>
          </a:xfrm>
          <a:prstGeom prst="rect">
            <a:avLst/>
          </a:prstGeom>
          <a:ln w="12700">
            <a:solidFill>
              <a:srgbClr val="2A3340"/>
            </a:solidFill>
          </a:ln>
        </p:spPr>
      </p:pic>
      <p:sp>
        <p:nvSpPr>
          <p:cNvPr id="1038399040" name="Oval 5"/>
          <p:cNvSpPr/>
          <p:nvPr/>
        </p:nvSpPr>
        <p:spPr bwMode="auto">
          <a:xfrm>
            <a:off x="5107880" y="1965960"/>
            <a:ext cx="329184" cy="329184"/>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9080901" name="TextBox 6"/>
          <p:cNvSpPr txBox="1"/>
          <p:nvPr/>
        </p:nvSpPr>
        <p:spPr bwMode="auto">
          <a:xfrm>
            <a:off x="5107880" y="1965960"/>
            <a:ext cx="329184" cy="329184"/>
          </a:xfrm>
          <a:prstGeom prst="rect">
            <a:avLst/>
          </a:prstGeom>
          <a:noFill/>
        </p:spPr>
        <p:txBody>
          <a:bodyPr wrap="square" lIns="0" tIns="0" rIns="0" bIns="0" anchor="ctr">
            <a:spAutoFit/>
          </a:bodyPr>
          <a:lstStyle/>
          <a:p>
            <a:pPr algn="ctr">
              <a:defRPr/>
            </a:pPr>
            <a:r>
              <a:rPr sz="1100" b="1" i="0">
                <a:solidFill>
                  <a:srgbClr val="FFFFFF"/>
                </a:solidFill>
                <a:latin typeface="Arial"/>
              </a:rPr>
              <a:t>1</a:t>
            </a:r>
            <a:endParaRPr/>
          </a:p>
        </p:txBody>
      </p:sp>
      <p:sp>
        <p:nvSpPr>
          <p:cNvPr id="963589750" name="TextBox 7"/>
          <p:cNvSpPr txBox="1"/>
          <p:nvPr/>
        </p:nvSpPr>
        <p:spPr bwMode="auto">
          <a:xfrm>
            <a:off x="5583368" y="1965960"/>
            <a:ext cx="3103431" cy="274320"/>
          </a:xfrm>
          <a:prstGeom prst="rect">
            <a:avLst/>
          </a:prstGeom>
          <a:noFill/>
        </p:spPr>
        <p:txBody>
          <a:bodyPr wrap="square" lIns="0" tIns="0" rIns="0" bIns="0" anchor="ctr">
            <a:spAutoFit/>
          </a:bodyPr>
          <a:lstStyle/>
          <a:p>
            <a:pPr algn="l">
              <a:defRPr/>
            </a:pPr>
            <a:r>
              <a:rPr sz="1400" b="1" i="0">
                <a:solidFill>
                  <a:srgbClr val="FFFFFF"/>
                </a:solidFill>
                <a:latin typeface="Arial"/>
              </a:rPr>
              <a:t>Select source</a:t>
            </a:r>
            <a:endParaRPr/>
          </a:p>
        </p:txBody>
      </p:sp>
      <p:sp>
        <p:nvSpPr>
          <p:cNvPr id="1328719094" name="TextBox 8"/>
          <p:cNvSpPr txBox="1"/>
          <p:nvPr/>
        </p:nvSpPr>
        <p:spPr bwMode="auto">
          <a:xfrm>
            <a:off x="5583368" y="2276856"/>
            <a:ext cx="3103431" cy="566928"/>
          </a:xfrm>
          <a:prstGeom prst="rect">
            <a:avLst/>
          </a:prstGeom>
          <a:noFill/>
        </p:spPr>
        <p:txBody>
          <a:bodyPr wrap="square" lIns="0" tIns="0" rIns="0" bIns="0" anchor="t">
            <a:spAutoFit/>
          </a:bodyPr>
          <a:lstStyle/>
          <a:p>
            <a:pPr algn="l">
              <a:defRPr/>
            </a:pPr>
            <a:r>
              <a:rPr sz="1050" b="0" i="0">
                <a:solidFill>
                  <a:srgbClr val="A9B4C2"/>
                </a:solidFill>
                <a:latin typeface="Arial"/>
              </a:rPr>
              <a:t>Testcard, camera or a prepared video, with live preview</a:t>
            </a:r>
            <a:endParaRPr/>
          </a:p>
        </p:txBody>
      </p:sp>
      <p:sp>
        <p:nvSpPr>
          <p:cNvPr id="545872212" name="Oval 9"/>
          <p:cNvSpPr/>
          <p:nvPr/>
        </p:nvSpPr>
        <p:spPr bwMode="auto">
          <a:xfrm>
            <a:off x="5107880" y="2898648"/>
            <a:ext cx="329184" cy="329184"/>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90162214" name="TextBox 10"/>
          <p:cNvSpPr txBox="1"/>
          <p:nvPr/>
        </p:nvSpPr>
        <p:spPr bwMode="auto">
          <a:xfrm>
            <a:off x="5107880" y="2898648"/>
            <a:ext cx="329184" cy="329184"/>
          </a:xfrm>
          <a:prstGeom prst="rect">
            <a:avLst/>
          </a:prstGeom>
          <a:noFill/>
        </p:spPr>
        <p:txBody>
          <a:bodyPr wrap="square" lIns="0" tIns="0" rIns="0" bIns="0" anchor="ctr">
            <a:spAutoFit/>
          </a:bodyPr>
          <a:lstStyle/>
          <a:p>
            <a:pPr algn="ctr">
              <a:defRPr/>
            </a:pPr>
            <a:r>
              <a:rPr sz="1100" b="1" i="0">
                <a:solidFill>
                  <a:srgbClr val="FFFFFF"/>
                </a:solidFill>
                <a:latin typeface="Arial"/>
              </a:rPr>
              <a:t>2</a:t>
            </a:r>
            <a:endParaRPr/>
          </a:p>
        </p:txBody>
      </p:sp>
      <p:sp>
        <p:nvSpPr>
          <p:cNvPr id="92067823" name="TextBox 11"/>
          <p:cNvSpPr txBox="1"/>
          <p:nvPr/>
        </p:nvSpPr>
        <p:spPr bwMode="auto">
          <a:xfrm>
            <a:off x="5583368" y="2898648"/>
            <a:ext cx="3103431" cy="274320"/>
          </a:xfrm>
          <a:prstGeom prst="rect">
            <a:avLst/>
          </a:prstGeom>
          <a:noFill/>
        </p:spPr>
        <p:txBody>
          <a:bodyPr wrap="square" lIns="0" tIns="0" rIns="0" bIns="0" anchor="ctr">
            <a:spAutoFit/>
          </a:bodyPr>
          <a:lstStyle/>
          <a:p>
            <a:pPr algn="l">
              <a:defRPr/>
            </a:pPr>
            <a:r>
              <a:rPr sz="1400" b="1" i="0">
                <a:solidFill>
                  <a:srgbClr val="FFFFFF"/>
                </a:solidFill>
                <a:latin typeface="Arial"/>
              </a:rPr>
              <a:t>Configure signal</a:t>
            </a:r>
            <a:endParaRPr/>
          </a:p>
        </p:txBody>
      </p:sp>
      <p:sp>
        <p:nvSpPr>
          <p:cNvPr id="1628131431" name="TextBox 12"/>
          <p:cNvSpPr txBox="1"/>
          <p:nvPr/>
        </p:nvSpPr>
        <p:spPr bwMode="auto">
          <a:xfrm>
            <a:off x="5583368" y="3209544"/>
            <a:ext cx="3103431" cy="566928"/>
          </a:xfrm>
          <a:prstGeom prst="rect">
            <a:avLst/>
          </a:prstGeom>
          <a:noFill/>
        </p:spPr>
        <p:txBody>
          <a:bodyPr wrap="square" lIns="0" tIns="0" rIns="0" bIns="0" anchor="t">
            <a:spAutoFit/>
          </a:bodyPr>
          <a:lstStyle/>
          <a:p>
            <a:pPr algn="l">
              <a:defRPr/>
            </a:pPr>
            <a:r>
              <a:rPr sz="1050" b="0" i="0">
                <a:solidFill>
                  <a:srgbClr val="A9B4C2"/>
                </a:solidFill>
                <a:latin typeface="Arial"/>
              </a:rPr>
              <a:t>Click a free green slot on the live BATC spectrum. SR 333 / 500 kS/s, FEC 3/4 or 2/3</a:t>
            </a:r>
            <a:endParaRPr/>
          </a:p>
        </p:txBody>
      </p:sp>
      <p:sp>
        <p:nvSpPr>
          <p:cNvPr id="2090397866" name="Oval 13"/>
          <p:cNvSpPr/>
          <p:nvPr/>
        </p:nvSpPr>
        <p:spPr bwMode="auto">
          <a:xfrm>
            <a:off x="5107880" y="3831335"/>
            <a:ext cx="329184" cy="329184"/>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33994057" name="TextBox 14"/>
          <p:cNvSpPr txBox="1"/>
          <p:nvPr/>
        </p:nvSpPr>
        <p:spPr bwMode="auto">
          <a:xfrm>
            <a:off x="5107880" y="3831335"/>
            <a:ext cx="329184" cy="329184"/>
          </a:xfrm>
          <a:prstGeom prst="rect">
            <a:avLst/>
          </a:prstGeom>
          <a:noFill/>
        </p:spPr>
        <p:txBody>
          <a:bodyPr wrap="square" lIns="0" tIns="0" rIns="0" bIns="0" anchor="ctr">
            <a:spAutoFit/>
          </a:bodyPr>
          <a:lstStyle/>
          <a:p>
            <a:pPr algn="ctr">
              <a:defRPr/>
            </a:pPr>
            <a:r>
              <a:rPr sz="1100" b="1" i="0">
                <a:solidFill>
                  <a:srgbClr val="FFFFFF"/>
                </a:solidFill>
                <a:latin typeface="Arial"/>
              </a:rPr>
              <a:t>3</a:t>
            </a:r>
            <a:endParaRPr/>
          </a:p>
        </p:txBody>
      </p:sp>
      <p:sp>
        <p:nvSpPr>
          <p:cNvPr id="941142807" name="TextBox 15"/>
          <p:cNvSpPr txBox="1"/>
          <p:nvPr/>
        </p:nvSpPr>
        <p:spPr bwMode="auto">
          <a:xfrm>
            <a:off x="5583368" y="3831335"/>
            <a:ext cx="3103431" cy="274320"/>
          </a:xfrm>
          <a:prstGeom prst="rect">
            <a:avLst/>
          </a:prstGeom>
          <a:noFill/>
        </p:spPr>
        <p:txBody>
          <a:bodyPr wrap="square" lIns="0" tIns="0" rIns="0" bIns="0" anchor="ctr">
            <a:spAutoFit/>
          </a:bodyPr>
          <a:lstStyle/>
          <a:p>
            <a:pPr algn="l">
              <a:defRPr/>
            </a:pPr>
            <a:r>
              <a:rPr sz="1400" b="1" i="0">
                <a:solidFill>
                  <a:srgbClr val="FFFFFF"/>
                </a:solidFill>
                <a:latin typeface="Arial"/>
              </a:rPr>
              <a:t>Go live</a:t>
            </a:r>
            <a:endParaRPr/>
          </a:p>
        </p:txBody>
      </p:sp>
      <p:sp>
        <p:nvSpPr>
          <p:cNvPr id="1178955805" name="TextBox 16"/>
          <p:cNvSpPr txBox="1"/>
          <p:nvPr/>
        </p:nvSpPr>
        <p:spPr bwMode="auto">
          <a:xfrm>
            <a:off x="5583368" y="4142231"/>
            <a:ext cx="3103431" cy="566928"/>
          </a:xfrm>
          <a:prstGeom prst="rect">
            <a:avLst/>
          </a:prstGeom>
          <a:noFill/>
        </p:spPr>
        <p:txBody>
          <a:bodyPr wrap="square" lIns="0" tIns="0" rIns="0" bIns="0" anchor="t">
            <a:spAutoFit/>
          </a:bodyPr>
          <a:lstStyle/>
          <a:p>
            <a:pPr algn="l">
              <a:defRPr/>
            </a:pPr>
            <a:r>
              <a:rPr sz="1050" b="0" i="0">
                <a:solidFill>
                  <a:srgbClr val="A9B4C2"/>
                </a:solidFill>
                <a:latin typeface="Arial"/>
              </a:rPr>
              <a:t>Start stream, then raise TX power while the local Pluto RX spectrum confirms the signal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E1217"/>
        </a:solidFill>
      </p:bgPr>
    </p:bg>
    <p:spTree>
      <p:nvGrpSpPr>
        <p:cNvPr id="1" name=""/>
        <p:cNvGrpSpPr/>
        <p:nvPr/>
      </p:nvGrpSpPr>
      <p:grpSpPr bwMode="auto">
        <a:xfrm>
          <a:off x="0" y="0"/>
          <a:ext cx="0" cy="0"/>
          <a:chOff x="0" y="0"/>
          <a:chExt cx="0" cy="0"/>
        </a:xfrm>
      </p:grpSpPr>
      <p:sp>
        <p:nvSpPr>
          <p:cNvPr id="654681171" name="TextBox 1"/>
          <p:cNvSpPr txBox="1"/>
          <p:nvPr/>
        </p:nvSpPr>
        <p:spPr bwMode="auto">
          <a:xfrm>
            <a:off x="457200" y="118872"/>
            <a:ext cx="8229600" cy="685800"/>
          </a:xfrm>
          <a:prstGeom prst="rect">
            <a:avLst/>
          </a:prstGeom>
          <a:noFill/>
        </p:spPr>
        <p:txBody>
          <a:bodyPr wrap="square" lIns="0" tIns="0" rIns="0" bIns="0" anchor="ctr">
            <a:spAutoFit/>
          </a:bodyPr>
          <a:lstStyle/>
          <a:p>
            <a:pPr algn="l">
              <a:defRPr/>
            </a:pPr>
            <a:r>
              <a:rPr sz="3600" b="1" i="0">
                <a:solidFill>
                  <a:srgbClr val="FFFFFF"/>
                </a:solidFill>
                <a:latin typeface="Arial"/>
              </a:rPr>
              <a:t>Three things to send</a:t>
            </a:r>
            <a:endParaRPr/>
          </a:p>
        </p:txBody>
      </p:sp>
      <p:sp>
        <p:nvSpPr>
          <p:cNvPr id="1869113071" name="TextBox 2"/>
          <p:cNvSpPr txBox="1"/>
          <p:nvPr/>
        </p:nvSpPr>
        <p:spPr bwMode="auto">
          <a:xfrm>
            <a:off x="457200" y="923544"/>
            <a:ext cx="8229600" cy="274320"/>
          </a:xfrm>
          <a:prstGeom prst="rect">
            <a:avLst/>
          </a:prstGeom>
          <a:noFill/>
        </p:spPr>
        <p:txBody>
          <a:bodyPr wrap="square" lIns="0" tIns="0" rIns="0" bIns="0" anchor="ctr">
            <a:spAutoFit/>
          </a:bodyPr>
          <a:lstStyle/>
          <a:p>
            <a:pPr algn="l">
              <a:defRPr/>
            </a:pPr>
            <a:r>
              <a:rPr sz="1100" b="1" i="0" spc="200">
                <a:solidFill>
                  <a:srgbClr val="76B900"/>
                </a:solidFill>
                <a:latin typeface="Arial"/>
              </a:rPr>
              <a:t>TESTCARD  ·  CAMERA  ·  VIDEO</a:t>
            </a:r>
            <a:endParaRPr/>
          </a:p>
        </p:txBody>
      </p:sp>
      <p:sp>
        <p:nvSpPr>
          <p:cNvPr id="460713037" name="TextBox 3"/>
          <p:cNvSpPr txBox="1"/>
          <p:nvPr/>
        </p:nvSpPr>
        <p:spPr bwMode="auto">
          <a:xfrm>
            <a:off x="457200" y="1325880"/>
            <a:ext cx="8229600" cy="365760"/>
          </a:xfrm>
          <a:prstGeom prst="rect">
            <a:avLst/>
          </a:prstGeom>
          <a:noFill/>
        </p:spPr>
        <p:txBody>
          <a:bodyPr wrap="square" lIns="0" tIns="0" rIns="0" bIns="0" anchor="ctr">
            <a:spAutoFit/>
          </a:bodyPr>
          <a:lstStyle/>
          <a:p>
            <a:pPr algn="l">
              <a:defRPr/>
            </a:pPr>
            <a:r>
              <a:rPr sz="1600" b="0" i="1">
                <a:solidFill>
                  <a:srgbClr val="A9B4C2"/>
                </a:solidFill>
                <a:latin typeface="Arial"/>
              </a:rPr>
              <a:t>Something to transmit from the first boot, camera or not.</a:t>
            </a:r>
            <a:endParaRPr/>
          </a:p>
        </p:txBody>
      </p:sp>
      <p:sp>
        <p:nvSpPr>
          <p:cNvPr id="296554234" name="Rounded Rectangle 4"/>
          <p:cNvSpPr/>
          <p:nvPr/>
        </p:nvSpPr>
        <p:spPr bwMode="auto">
          <a:xfrm>
            <a:off x="457200" y="1920240"/>
            <a:ext cx="2560320" cy="2395728"/>
          </a:xfrm>
          <a:prstGeom prst="roundRect">
            <a:avLst>
              <a:gd name="adj" fmla="val 4580"/>
            </a:avLst>
          </a:prstGeom>
          <a:solidFill>
            <a:srgbClr val="1A2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129690301" name="Picture 5" descr="src_tc.png"/>
          <p:cNvPicPr>
            <a:picLocks noChangeAspect="1"/>
          </p:cNvPicPr>
          <p:nvPr/>
        </p:nvPicPr>
        <p:blipFill rotWithShape="1">
          <a:blip r:embed="rId3"/>
          <a:stretch/>
        </p:blipFill>
        <p:spPr bwMode="auto">
          <a:xfrm>
            <a:off x="594360" y="2057400"/>
            <a:ext cx="2286000" cy="1277654"/>
          </a:xfrm>
          <a:prstGeom prst="rect">
            <a:avLst/>
          </a:prstGeom>
          <a:ln w="12700">
            <a:solidFill>
              <a:srgbClr val="2A3340"/>
            </a:solidFill>
          </a:ln>
        </p:spPr>
      </p:pic>
      <p:sp>
        <p:nvSpPr>
          <p:cNvPr id="366131774" name="Oval 6"/>
          <p:cNvSpPr/>
          <p:nvPr/>
        </p:nvSpPr>
        <p:spPr bwMode="auto">
          <a:xfrm>
            <a:off x="594360" y="3472214"/>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2007862074" name="Picture 7" descr="MdTv.png"/>
          <p:cNvPicPr>
            <a:picLocks noChangeAspect="1"/>
          </p:cNvPicPr>
          <p:nvPr/>
        </p:nvPicPr>
        <p:blipFill rotWithShape="1">
          <a:blip r:embed="rId4"/>
          <a:stretch/>
        </p:blipFill>
        <p:spPr bwMode="auto">
          <a:xfrm>
            <a:off x="685800" y="3563654"/>
            <a:ext cx="182880" cy="182880"/>
          </a:xfrm>
          <a:prstGeom prst="rect">
            <a:avLst/>
          </a:prstGeom>
        </p:spPr>
      </p:pic>
      <p:sp>
        <p:nvSpPr>
          <p:cNvPr id="380674563" name="TextBox 8"/>
          <p:cNvSpPr txBox="1"/>
          <p:nvPr/>
        </p:nvSpPr>
        <p:spPr bwMode="auto">
          <a:xfrm>
            <a:off x="1051560" y="3472214"/>
            <a:ext cx="1828800" cy="365760"/>
          </a:xfrm>
          <a:prstGeom prst="rect">
            <a:avLst/>
          </a:prstGeom>
          <a:noFill/>
        </p:spPr>
        <p:txBody>
          <a:bodyPr wrap="square" lIns="0" tIns="0" rIns="0" bIns="0" anchor="ctr">
            <a:spAutoFit/>
          </a:bodyPr>
          <a:lstStyle/>
          <a:p>
            <a:pPr algn="l">
              <a:defRPr/>
            </a:pPr>
            <a:r>
              <a:rPr sz="1400" b="1" i="0">
                <a:solidFill>
                  <a:srgbClr val="FFFFFF"/>
                </a:solidFill>
                <a:latin typeface="Arial"/>
              </a:rPr>
              <a:t>Testcard</a:t>
            </a:r>
            <a:endParaRPr/>
          </a:p>
        </p:txBody>
      </p:sp>
      <p:sp>
        <p:nvSpPr>
          <p:cNvPr id="914907767" name="TextBox 9"/>
          <p:cNvSpPr txBox="1"/>
          <p:nvPr/>
        </p:nvSpPr>
        <p:spPr bwMode="auto">
          <a:xfrm>
            <a:off x="594360" y="3911126"/>
            <a:ext cx="2286000" cy="411480"/>
          </a:xfrm>
          <a:prstGeom prst="rect">
            <a:avLst/>
          </a:prstGeom>
          <a:noFill/>
        </p:spPr>
        <p:txBody>
          <a:bodyPr wrap="square" lIns="0" tIns="0" rIns="0" bIns="0" anchor="t">
            <a:spAutoFit/>
          </a:bodyPr>
          <a:lstStyle/>
          <a:p>
            <a:pPr algn="l">
              <a:defRPr/>
            </a:pPr>
            <a:r>
              <a:rPr sz="1050" b="0" i="0">
                <a:solidFill>
                  <a:srgbClr val="A9B4C2"/>
                </a:solidFill>
                <a:latin typeface="Arial"/>
              </a:rPr>
              <a:t>Test cards with tone, or the live SBB station clock</a:t>
            </a:r>
            <a:endParaRPr/>
          </a:p>
        </p:txBody>
      </p:sp>
      <p:sp>
        <p:nvSpPr>
          <p:cNvPr id="503769289" name="Rounded Rectangle 10"/>
          <p:cNvSpPr/>
          <p:nvPr/>
        </p:nvSpPr>
        <p:spPr bwMode="auto">
          <a:xfrm>
            <a:off x="3291840" y="1920240"/>
            <a:ext cx="2560320" cy="2395728"/>
          </a:xfrm>
          <a:prstGeom prst="roundRect">
            <a:avLst>
              <a:gd name="adj" fmla="val 4580"/>
            </a:avLst>
          </a:prstGeom>
          <a:solidFill>
            <a:srgbClr val="1A2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374617381" name="Picture 11" descr="src_cam.png"/>
          <p:cNvPicPr>
            <a:picLocks noChangeAspect="1"/>
          </p:cNvPicPr>
          <p:nvPr/>
        </p:nvPicPr>
        <p:blipFill rotWithShape="1">
          <a:blip r:embed="rId5"/>
          <a:stretch/>
        </p:blipFill>
        <p:spPr bwMode="auto">
          <a:xfrm>
            <a:off x="3429000" y="2057400"/>
            <a:ext cx="2286000" cy="1277654"/>
          </a:xfrm>
          <a:prstGeom prst="rect">
            <a:avLst/>
          </a:prstGeom>
          <a:ln w="12700">
            <a:solidFill>
              <a:srgbClr val="2A3340"/>
            </a:solidFill>
          </a:ln>
        </p:spPr>
      </p:pic>
      <p:sp>
        <p:nvSpPr>
          <p:cNvPr id="1180508903" name="Oval 12"/>
          <p:cNvSpPr/>
          <p:nvPr/>
        </p:nvSpPr>
        <p:spPr bwMode="auto">
          <a:xfrm>
            <a:off x="3429000" y="3472214"/>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487386921" name="Picture 13" descr="MdVideocam.png"/>
          <p:cNvPicPr>
            <a:picLocks noChangeAspect="1"/>
          </p:cNvPicPr>
          <p:nvPr/>
        </p:nvPicPr>
        <p:blipFill rotWithShape="1">
          <a:blip r:embed="rId6"/>
          <a:stretch/>
        </p:blipFill>
        <p:spPr bwMode="auto">
          <a:xfrm>
            <a:off x="3520440" y="3563654"/>
            <a:ext cx="182880" cy="182880"/>
          </a:xfrm>
          <a:prstGeom prst="rect">
            <a:avLst/>
          </a:prstGeom>
        </p:spPr>
      </p:pic>
      <p:sp>
        <p:nvSpPr>
          <p:cNvPr id="1690231749" name="TextBox 14"/>
          <p:cNvSpPr txBox="1"/>
          <p:nvPr/>
        </p:nvSpPr>
        <p:spPr bwMode="auto">
          <a:xfrm>
            <a:off x="3886200" y="3472214"/>
            <a:ext cx="1828800" cy="365760"/>
          </a:xfrm>
          <a:prstGeom prst="rect">
            <a:avLst/>
          </a:prstGeom>
          <a:noFill/>
        </p:spPr>
        <p:txBody>
          <a:bodyPr wrap="square" lIns="0" tIns="0" rIns="0" bIns="0" anchor="ctr">
            <a:spAutoFit/>
          </a:bodyPr>
          <a:lstStyle/>
          <a:p>
            <a:pPr algn="l">
              <a:defRPr/>
            </a:pPr>
            <a:r>
              <a:rPr sz="1400" b="1" i="0">
                <a:solidFill>
                  <a:srgbClr val="FFFFFF"/>
                </a:solidFill>
                <a:latin typeface="Arial"/>
              </a:rPr>
              <a:t>Camera</a:t>
            </a:r>
            <a:endParaRPr/>
          </a:p>
        </p:txBody>
      </p:sp>
      <p:sp>
        <p:nvSpPr>
          <p:cNvPr id="213245153" name="TextBox 15"/>
          <p:cNvSpPr txBox="1"/>
          <p:nvPr/>
        </p:nvSpPr>
        <p:spPr bwMode="auto">
          <a:xfrm>
            <a:off x="3429000" y="3911126"/>
            <a:ext cx="2286000" cy="411480"/>
          </a:xfrm>
          <a:prstGeom prst="rect">
            <a:avLst/>
          </a:prstGeom>
          <a:noFill/>
        </p:spPr>
        <p:txBody>
          <a:bodyPr wrap="square" lIns="0" tIns="0" rIns="0" bIns="0" anchor="t">
            <a:spAutoFit/>
          </a:bodyPr>
          <a:lstStyle/>
          <a:p>
            <a:pPr algn="l">
              <a:defRPr/>
            </a:pPr>
            <a:r>
              <a:rPr sz="1050" b="0" i="0">
                <a:solidFill>
                  <a:srgbClr val="A9B4C2"/>
                </a:solidFill>
                <a:latin typeface="Arial"/>
              </a:rPr>
              <a:t>Any USB webcam plus its microphone or another audio input</a:t>
            </a:r>
            <a:endParaRPr/>
          </a:p>
        </p:txBody>
      </p:sp>
      <p:sp>
        <p:nvSpPr>
          <p:cNvPr id="1267900316" name="Rounded Rectangle 16"/>
          <p:cNvSpPr/>
          <p:nvPr/>
        </p:nvSpPr>
        <p:spPr bwMode="auto">
          <a:xfrm>
            <a:off x="6126480" y="1920240"/>
            <a:ext cx="2560320" cy="2395728"/>
          </a:xfrm>
          <a:prstGeom prst="roundRect">
            <a:avLst>
              <a:gd name="adj" fmla="val 4580"/>
            </a:avLst>
          </a:prstGeom>
          <a:solidFill>
            <a:srgbClr val="1A2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162265042" name="Picture 17" descr="src_vid.png"/>
          <p:cNvPicPr>
            <a:picLocks noChangeAspect="1"/>
          </p:cNvPicPr>
          <p:nvPr/>
        </p:nvPicPr>
        <p:blipFill rotWithShape="1">
          <a:blip r:embed="rId7"/>
          <a:stretch/>
        </p:blipFill>
        <p:spPr bwMode="auto">
          <a:xfrm>
            <a:off x="6263640" y="2057400"/>
            <a:ext cx="2286000" cy="1277654"/>
          </a:xfrm>
          <a:prstGeom prst="rect">
            <a:avLst/>
          </a:prstGeom>
          <a:ln w="12700">
            <a:solidFill>
              <a:srgbClr val="2A3340"/>
            </a:solidFill>
          </a:ln>
        </p:spPr>
      </p:pic>
      <p:sp>
        <p:nvSpPr>
          <p:cNvPr id="992698185" name="Oval 18"/>
          <p:cNvSpPr/>
          <p:nvPr/>
        </p:nvSpPr>
        <p:spPr bwMode="auto">
          <a:xfrm>
            <a:off x="6263640" y="3472214"/>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885857798" name="Picture 19" descr="MdMovie.png"/>
          <p:cNvPicPr>
            <a:picLocks noChangeAspect="1"/>
          </p:cNvPicPr>
          <p:nvPr/>
        </p:nvPicPr>
        <p:blipFill rotWithShape="1">
          <a:blip r:embed="rId8"/>
          <a:stretch/>
        </p:blipFill>
        <p:spPr bwMode="auto">
          <a:xfrm>
            <a:off x="6355080" y="3563654"/>
            <a:ext cx="182880" cy="182880"/>
          </a:xfrm>
          <a:prstGeom prst="rect">
            <a:avLst/>
          </a:prstGeom>
        </p:spPr>
      </p:pic>
      <p:sp>
        <p:nvSpPr>
          <p:cNvPr id="198093170" name="TextBox 20"/>
          <p:cNvSpPr txBox="1"/>
          <p:nvPr/>
        </p:nvSpPr>
        <p:spPr bwMode="auto">
          <a:xfrm>
            <a:off x="6720840" y="3472214"/>
            <a:ext cx="1828800" cy="365760"/>
          </a:xfrm>
          <a:prstGeom prst="rect">
            <a:avLst/>
          </a:prstGeom>
          <a:noFill/>
        </p:spPr>
        <p:txBody>
          <a:bodyPr wrap="square" lIns="0" tIns="0" rIns="0" bIns="0" anchor="ctr">
            <a:spAutoFit/>
          </a:bodyPr>
          <a:lstStyle/>
          <a:p>
            <a:pPr algn="l">
              <a:defRPr/>
            </a:pPr>
            <a:r>
              <a:rPr sz="1400" b="1" i="0">
                <a:solidFill>
                  <a:srgbClr val="FFFFFF"/>
                </a:solidFill>
                <a:latin typeface="Arial"/>
              </a:rPr>
              <a:t>Video</a:t>
            </a:r>
            <a:endParaRPr/>
          </a:p>
        </p:txBody>
      </p:sp>
      <p:sp>
        <p:nvSpPr>
          <p:cNvPr id="729723884" name="TextBox 21"/>
          <p:cNvSpPr txBox="1"/>
          <p:nvPr/>
        </p:nvSpPr>
        <p:spPr bwMode="auto">
          <a:xfrm>
            <a:off x="6263640" y="3911126"/>
            <a:ext cx="2286000" cy="411480"/>
          </a:xfrm>
          <a:prstGeom prst="rect">
            <a:avLst/>
          </a:prstGeom>
          <a:noFill/>
        </p:spPr>
        <p:txBody>
          <a:bodyPr wrap="square" lIns="0" tIns="0" rIns="0" bIns="0" anchor="t">
            <a:spAutoFit/>
          </a:bodyPr>
          <a:lstStyle/>
          <a:p>
            <a:pPr algn="l">
              <a:defRPr/>
            </a:pPr>
            <a:r>
              <a:rPr sz="1050" b="0" i="0">
                <a:solidFill>
                  <a:srgbClr val="A9B4C2"/>
                </a:solidFill>
                <a:latin typeface="Arial"/>
              </a:rPr>
              <a:t>Clips from the Video Library, demo clip included</a:t>
            </a:r>
            <a:endParaRPr/>
          </a:p>
        </p:txBody>
      </p:sp>
      <p:sp>
        <p:nvSpPr>
          <p:cNvPr id="241288498" name="TextBox 22"/>
          <p:cNvSpPr txBox="1"/>
          <p:nvPr/>
        </p:nvSpPr>
        <p:spPr bwMode="auto">
          <a:xfrm>
            <a:off x="457200" y="4507992"/>
            <a:ext cx="8229600" cy="274320"/>
          </a:xfrm>
          <a:prstGeom prst="rect">
            <a:avLst/>
          </a:prstGeom>
          <a:noFill/>
        </p:spPr>
        <p:txBody>
          <a:bodyPr wrap="square" lIns="0" tIns="0" rIns="0" bIns="0" anchor="t">
            <a:spAutoFit/>
          </a:bodyPr>
          <a:lstStyle/>
          <a:p>
            <a:pPr algn="l">
              <a:defRPr/>
            </a:pPr>
            <a:r>
              <a:rPr sz="1100" b="0" i="1">
                <a:solidFill>
                  <a:srgbClr val="A9B4C2"/>
                </a:solidFill>
                <a:latin typeface="Arial"/>
              </a:rPr>
              <a:t>Camera and Video can add a top banner, a scrolling marquee and a live callsign / clock bottom banner.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E1217"/>
        </a:solidFill>
      </p:bgPr>
    </p:bg>
    <p:spTree>
      <p:nvGrpSpPr>
        <p:cNvPr id="1" name=""/>
        <p:cNvGrpSpPr/>
        <p:nvPr/>
      </p:nvGrpSpPr>
      <p:grpSpPr bwMode="auto">
        <a:xfrm>
          <a:off x="0" y="0"/>
          <a:ext cx="0" cy="0"/>
          <a:chOff x="0" y="0"/>
          <a:chExt cx="0" cy="0"/>
        </a:xfrm>
      </p:grpSpPr>
      <p:sp>
        <p:nvSpPr>
          <p:cNvPr id="459884765" name="TextBox 1"/>
          <p:cNvSpPr txBox="1"/>
          <p:nvPr/>
        </p:nvSpPr>
        <p:spPr bwMode="auto">
          <a:xfrm>
            <a:off x="457200" y="118872"/>
            <a:ext cx="8229600" cy="685800"/>
          </a:xfrm>
          <a:prstGeom prst="rect">
            <a:avLst/>
          </a:prstGeom>
          <a:noFill/>
        </p:spPr>
        <p:txBody>
          <a:bodyPr wrap="square" lIns="0" tIns="0" rIns="0" bIns="0" anchor="ctr">
            <a:spAutoFit/>
          </a:bodyPr>
          <a:lstStyle/>
          <a:p>
            <a:pPr algn="l">
              <a:defRPr/>
            </a:pPr>
            <a:r>
              <a:rPr sz="3600" b="1" i="0">
                <a:solidFill>
                  <a:srgbClr val="FFFFFF"/>
                </a:solidFill>
                <a:latin typeface="Arial"/>
              </a:rPr>
              <a:t>On air: see your own signal</a:t>
            </a:r>
            <a:endParaRPr/>
          </a:p>
        </p:txBody>
      </p:sp>
      <p:sp>
        <p:nvSpPr>
          <p:cNvPr id="601685042" name="TextBox 2"/>
          <p:cNvSpPr txBox="1"/>
          <p:nvPr/>
        </p:nvSpPr>
        <p:spPr bwMode="auto">
          <a:xfrm>
            <a:off x="457200" y="923544"/>
            <a:ext cx="8229600" cy="274320"/>
          </a:xfrm>
          <a:prstGeom prst="rect">
            <a:avLst/>
          </a:prstGeom>
          <a:noFill/>
        </p:spPr>
        <p:txBody>
          <a:bodyPr wrap="square" lIns="0" tIns="0" rIns="0" bIns="0" anchor="ctr">
            <a:spAutoFit/>
          </a:bodyPr>
          <a:lstStyle/>
          <a:p>
            <a:pPr algn="l">
              <a:defRPr/>
            </a:pPr>
            <a:r>
              <a:rPr sz="1100" b="1" i="0" spc="200">
                <a:solidFill>
                  <a:srgbClr val="76B900"/>
                </a:solidFill>
                <a:latin typeface="Arial"/>
              </a:rPr>
              <a:t>ON-AIR MONITOR  ·  LOCAL RX SPECTRUM  ·  PTT RELAY</a:t>
            </a:r>
            <a:endParaRPr/>
          </a:p>
        </p:txBody>
      </p:sp>
      <p:sp>
        <p:nvSpPr>
          <p:cNvPr id="1629906901" name="TextBox 3"/>
          <p:cNvSpPr txBox="1"/>
          <p:nvPr/>
        </p:nvSpPr>
        <p:spPr bwMode="auto">
          <a:xfrm>
            <a:off x="457200" y="1325880"/>
            <a:ext cx="8229600" cy="365760"/>
          </a:xfrm>
          <a:prstGeom prst="rect">
            <a:avLst/>
          </a:prstGeom>
          <a:noFill/>
        </p:spPr>
        <p:txBody>
          <a:bodyPr wrap="square" lIns="0" tIns="0" rIns="0" bIns="0" anchor="ctr">
            <a:spAutoFit/>
          </a:bodyPr>
          <a:lstStyle/>
          <a:p>
            <a:pPr algn="l">
              <a:defRPr/>
            </a:pPr>
            <a:r>
              <a:rPr sz="1600" b="0" i="1">
                <a:solidFill>
                  <a:srgbClr val="A9B4C2"/>
                </a:solidFill>
                <a:latin typeface="Arial"/>
              </a:rPr>
              <a:t>Know what reaches the satellite, not just what leaves the Pluto.</a:t>
            </a:r>
            <a:endParaRPr/>
          </a:p>
        </p:txBody>
      </p:sp>
      <p:pic>
        <p:nvPicPr>
          <p:cNvPr id="1798319781" name="Picture 4" descr="onair.png"/>
          <p:cNvPicPr>
            <a:picLocks noChangeAspect="1"/>
          </p:cNvPicPr>
          <p:nvPr/>
        </p:nvPicPr>
        <p:blipFill rotWithShape="1">
          <a:blip r:embed="rId3"/>
          <a:stretch/>
        </p:blipFill>
        <p:spPr bwMode="auto">
          <a:xfrm>
            <a:off x="457200" y="1920240"/>
            <a:ext cx="4407933" cy="2834640"/>
          </a:xfrm>
          <a:prstGeom prst="rect">
            <a:avLst/>
          </a:prstGeom>
          <a:ln w="12700">
            <a:solidFill>
              <a:srgbClr val="2A3340"/>
            </a:solidFill>
          </a:ln>
        </p:spPr>
      </p:pic>
      <p:sp>
        <p:nvSpPr>
          <p:cNvPr id="1828009319" name="Oval 5"/>
          <p:cNvSpPr/>
          <p:nvPr/>
        </p:nvSpPr>
        <p:spPr bwMode="auto">
          <a:xfrm>
            <a:off x="5185173" y="1965960"/>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723511787" name="Picture 6" descr="MdLiveTv.png"/>
          <p:cNvPicPr>
            <a:picLocks noChangeAspect="1"/>
          </p:cNvPicPr>
          <p:nvPr/>
        </p:nvPicPr>
        <p:blipFill rotWithShape="1">
          <a:blip r:embed="rId4"/>
          <a:stretch/>
        </p:blipFill>
        <p:spPr bwMode="auto">
          <a:xfrm>
            <a:off x="5276613" y="2057400"/>
            <a:ext cx="182880" cy="182880"/>
          </a:xfrm>
          <a:prstGeom prst="rect">
            <a:avLst/>
          </a:prstGeom>
        </p:spPr>
      </p:pic>
      <p:sp>
        <p:nvSpPr>
          <p:cNvPr id="205332557" name="TextBox 7"/>
          <p:cNvSpPr txBox="1"/>
          <p:nvPr/>
        </p:nvSpPr>
        <p:spPr bwMode="auto">
          <a:xfrm>
            <a:off x="5715524" y="1938528"/>
            <a:ext cx="2971274" cy="237744"/>
          </a:xfrm>
          <a:prstGeom prst="rect">
            <a:avLst/>
          </a:prstGeom>
          <a:noFill/>
        </p:spPr>
        <p:txBody>
          <a:bodyPr wrap="square" lIns="0" tIns="0" rIns="0" bIns="0" anchor="t">
            <a:spAutoFit/>
          </a:bodyPr>
          <a:lstStyle/>
          <a:p>
            <a:pPr algn="l">
              <a:defRPr/>
            </a:pPr>
            <a:r>
              <a:rPr sz="1250" b="1" i="0">
                <a:solidFill>
                  <a:srgbClr val="FFFFFF"/>
                </a:solidFill>
                <a:latin typeface="Arial"/>
              </a:rPr>
              <a:t>On-air monitor</a:t>
            </a:r>
            <a:endParaRPr/>
          </a:p>
        </p:txBody>
      </p:sp>
      <p:sp>
        <p:nvSpPr>
          <p:cNvPr id="382278476" name="TextBox 8"/>
          <p:cNvSpPr txBox="1"/>
          <p:nvPr/>
        </p:nvSpPr>
        <p:spPr bwMode="auto">
          <a:xfrm>
            <a:off x="5715524" y="2185415"/>
            <a:ext cx="2971274" cy="457200"/>
          </a:xfrm>
          <a:prstGeom prst="rect">
            <a:avLst/>
          </a:prstGeom>
          <a:noFill/>
        </p:spPr>
        <p:txBody>
          <a:bodyPr wrap="square" lIns="0" tIns="0" rIns="0" bIns="0" anchor="t">
            <a:spAutoFit/>
          </a:bodyPr>
          <a:lstStyle/>
          <a:p>
            <a:pPr algn="l">
              <a:defRPr/>
            </a:pPr>
            <a:r>
              <a:rPr sz="1000" b="0" i="0">
                <a:solidFill>
                  <a:srgbClr val="A9B4C2"/>
                </a:solidFill>
                <a:latin typeface="Arial"/>
              </a:rPr>
              <a:t>Your picture back via QO-100, MER and lock</a:t>
            </a:r>
            <a:endParaRPr/>
          </a:p>
        </p:txBody>
      </p:sp>
      <p:sp>
        <p:nvSpPr>
          <p:cNvPr id="710943159" name="Oval 9"/>
          <p:cNvSpPr/>
          <p:nvPr/>
        </p:nvSpPr>
        <p:spPr bwMode="auto">
          <a:xfrm>
            <a:off x="5185173" y="2679191"/>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714752677" name="Picture 10" descr="MdShowChart.png"/>
          <p:cNvPicPr>
            <a:picLocks noChangeAspect="1"/>
          </p:cNvPicPr>
          <p:nvPr/>
        </p:nvPicPr>
        <p:blipFill rotWithShape="1">
          <a:blip r:embed="rId5"/>
          <a:stretch/>
        </p:blipFill>
        <p:spPr bwMode="auto">
          <a:xfrm>
            <a:off x="5276613" y="2770632"/>
            <a:ext cx="182880" cy="182880"/>
          </a:xfrm>
          <a:prstGeom prst="rect">
            <a:avLst/>
          </a:prstGeom>
        </p:spPr>
      </p:pic>
      <p:sp>
        <p:nvSpPr>
          <p:cNvPr id="1345709175" name="TextBox 11"/>
          <p:cNvSpPr txBox="1"/>
          <p:nvPr/>
        </p:nvSpPr>
        <p:spPr bwMode="auto">
          <a:xfrm>
            <a:off x="5715523" y="2651760"/>
            <a:ext cx="2971633" cy="190859"/>
          </a:xfrm>
          <a:prstGeom prst="rect">
            <a:avLst/>
          </a:prstGeom>
          <a:noFill/>
        </p:spPr>
        <p:txBody>
          <a:bodyPr wrap="square" lIns="0" tIns="0" rIns="0" bIns="0" anchor="t">
            <a:spAutoFit/>
          </a:bodyPr>
          <a:lstStyle/>
          <a:p>
            <a:pPr algn="l">
              <a:defRPr/>
            </a:pPr>
            <a:r>
              <a:rPr sz="1250" b="1" i="0">
                <a:solidFill>
                  <a:srgbClr val="FFFFFF"/>
                </a:solidFill>
                <a:latin typeface="Arial"/>
              </a:rPr>
              <a:t>Local Pluto </a:t>
            </a:r>
            <a:r>
              <a:rPr sz="1250" b="1" i="0">
                <a:solidFill>
                  <a:srgbClr val="FFFFFF"/>
                </a:solidFill>
                <a:latin typeface="Arial"/>
              </a:rPr>
              <a:t>R</a:t>
            </a:r>
            <a:r>
              <a:rPr sz="1250" b="1" i="0">
                <a:solidFill>
                  <a:srgbClr val="FFFFFF"/>
                </a:solidFill>
                <a:latin typeface="Arial"/>
              </a:rPr>
              <a:t>X spectrum</a:t>
            </a:r>
            <a:endParaRPr/>
          </a:p>
        </p:txBody>
      </p:sp>
      <p:sp>
        <p:nvSpPr>
          <p:cNvPr id="27963200" name="TextBox 12"/>
          <p:cNvSpPr txBox="1"/>
          <p:nvPr/>
        </p:nvSpPr>
        <p:spPr bwMode="auto">
          <a:xfrm>
            <a:off x="5715524" y="2898648"/>
            <a:ext cx="2971274" cy="457200"/>
          </a:xfrm>
          <a:prstGeom prst="rect">
            <a:avLst/>
          </a:prstGeom>
          <a:noFill/>
        </p:spPr>
        <p:txBody>
          <a:bodyPr wrap="square" lIns="0" tIns="0" rIns="0" bIns="0" anchor="t">
            <a:spAutoFit/>
          </a:bodyPr>
          <a:lstStyle/>
          <a:p>
            <a:pPr algn="l">
              <a:defRPr/>
            </a:pPr>
            <a:r>
              <a:rPr sz="1000" b="0" i="0">
                <a:solidFill>
                  <a:srgbClr val="A9B4C2"/>
                </a:solidFill>
                <a:latin typeface="Arial"/>
              </a:rPr>
              <a:t>Confirms the Pluto is really transmitting</a:t>
            </a:r>
            <a:endParaRPr/>
          </a:p>
        </p:txBody>
      </p:sp>
      <p:sp>
        <p:nvSpPr>
          <p:cNvPr id="1157744227" name="Oval 13"/>
          <p:cNvSpPr/>
          <p:nvPr/>
        </p:nvSpPr>
        <p:spPr bwMode="auto">
          <a:xfrm>
            <a:off x="5185173" y="3392424"/>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2003353269" name="Picture 14" descr="MdPowerSettingsNew.png"/>
          <p:cNvPicPr>
            <a:picLocks noChangeAspect="1"/>
          </p:cNvPicPr>
          <p:nvPr/>
        </p:nvPicPr>
        <p:blipFill rotWithShape="1">
          <a:blip r:embed="rId6"/>
          <a:stretch/>
        </p:blipFill>
        <p:spPr bwMode="auto">
          <a:xfrm>
            <a:off x="5276613" y="3483864"/>
            <a:ext cx="182880" cy="182880"/>
          </a:xfrm>
          <a:prstGeom prst="rect">
            <a:avLst/>
          </a:prstGeom>
        </p:spPr>
      </p:pic>
      <p:sp>
        <p:nvSpPr>
          <p:cNvPr id="1323912376" name="TextBox 15"/>
          <p:cNvSpPr txBox="1"/>
          <p:nvPr/>
        </p:nvSpPr>
        <p:spPr bwMode="auto">
          <a:xfrm>
            <a:off x="5715524" y="3364992"/>
            <a:ext cx="2971274" cy="237744"/>
          </a:xfrm>
          <a:prstGeom prst="rect">
            <a:avLst/>
          </a:prstGeom>
          <a:noFill/>
        </p:spPr>
        <p:txBody>
          <a:bodyPr wrap="square" lIns="0" tIns="0" rIns="0" bIns="0" anchor="t">
            <a:spAutoFit/>
          </a:bodyPr>
          <a:lstStyle/>
          <a:p>
            <a:pPr algn="l">
              <a:defRPr/>
            </a:pPr>
            <a:r>
              <a:rPr sz="1250" b="1" i="0">
                <a:solidFill>
                  <a:srgbClr val="FFFFFF"/>
                </a:solidFill>
                <a:latin typeface="Arial"/>
              </a:rPr>
              <a:t>PTT relay</a:t>
            </a:r>
            <a:endParaRPr/>
          </a:p>
        </p:txBody>
      </p:sp>
      <p:sp>
        <p:nvSpPr>
          <p:cNvPr id="1392061764" name="TextBox 16"/>
          <p:cNvSpPr txBox="1"/>
          <p:nvPr/>
        </p:nvSpPr>
        <p:spPr bwMode="auto">
          <a:xfrm>
            <a:off x="5715524" y="3611880"/>
            <a:ext cx="2971274" cy="457200"/>
          </a:xfrm>
          <a:prstGeom prst="rect">
            <a:avLst/>
          </a:prstGeom>
          <a:noFill/>
        </p:spPr>
        <p:txBody>
          <a:bodyPr wrap="square" lIns="0" tIns="0" rIns="0" bIns="0" anchor="t">
            <a:spAutoFit/>
          </a:bodyPr>
          <a:lstStyle/>
          <a:p>
            <a:pPr algn="l">
              <a:defRPr/>
            </a:pPr>
            <a:r>
              <a:rPr sz="1000" b="0" i="0">
                <a:solidFill>
                  <a:srgbClr val="A9B4C2"/>
                </a:solidFill>
                <a:latin typeface="Arial"/>
              </a:rPr>
              <a:t>You switch it on once the signal looks stable</a:t>
            </a:r>
            <a:endParaRPr/>
          </a:p>
        </p:txBody>
      </p:sp>
      <p:sp>
        <p:nvSpPr>
          <p:cNvPr id="48471782" name="Oval 17"/>
          <p:cNvSpPr/>
          <p:nvPr/>
        </p:nvSpPr>
        <p:spPr bwMode="auto">
          <a:xfrm>
            <a:off x="5185173" y="4105656"/>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950052116" name="Picture 18" descr="MdGpsFixed.png"/>
          <p:cNvPicPr>
            <a:picLocks noChangeAspect="1"/>
          </p:cNvPicPr>
          <p:nvPr/>
        </p:nvPicPr>
        <p:blipFill rotWithShape="1">
          <a:blip r:embed="rId7"/>
          <a:stretch/>
        </p:blipFill>
        <p:spPr bwMode="auto">
          <a:xfrm>
            <a:off x="5276613" y="4197096"/>
            <a:ext cx="182880" cy="182880"/>
          </a:xfrm>
          <a:prstGeom prst="rect">
            <a:avLst/>
          </a:prstGeom>
        </p:spPr>
      </p:pic>
      <p:sp>
        <p:nvSpPr>
          <p:cNvPr id="303424482" name="TextBox 19"/>
          <p:cNvSpPr txBox="1"/>
          <p:nvPr/>
        </p:nvSpPr>
        <p:spPr bwMode="auto">
          <a:xfrm>
            <a:off x="5715524" y="4078224"/>
            <a:ext cx="2971274" cy="237744"/>
          </a:xfrm>
          <a:prstGeom prst="rect">
            <a:avLst/>
          </a:prstGeom>
          <a:noFill/>
        </p:spPr>
        <p:txBody>
          <a:bodyPr wrap="square" lIns="0" tIns="0" rIns="0" bIns="0" anchor="t">
            <a:spAutoFit/>
          </a:bodyPr>
          <a:lstStyle/>
          <a:p>
            <a:pPr algn="l">
              <a:defRPr/>
            </a:pPr>
            <a:r>
              <a:rPr sz="1250" b="1" i="0">
                <a:solidFill>
                  <a:srgbClr val="FFFFFF"/>
                </a:solidFill>
                <a:latin typeface="Arial"/>
              </a:rPr>
              <a:t>TX frequency correction</a:t>
            </a:r>
            <a:endParaRPr/>
          </a:p>
        </p:txBody>
      </p:sp>
      <p:sp>
        <p:nvSpPr>
          <p:cNvPr id="387339897" name="TextBox 20"/>
          <p:cNvSpPr txBox="1"/>
          <p:nvPr/>
        </p:nvSpPr>
        <p:spPr bwMode="auto">
          <a:xfrm>
            <a:off x="5715524" y="4325112"/>
            <a:ext cx="2971274" cy="457200"/>
          </a:xfrm>
          <a:prstGeom prst="rect">
            <a:avLst/>
          </a:prstGeom>
          <a:noFill/>
        </p:spPr>
        <p:txBody>
          <a:bodyPr wrap="square" lIns="0" tIns="0" rIns="0" bIns="0" anchor="t">
            <a:spAutoFit/>
          </a:bodyPr>
          <a:lstStyle/>
          <a:p>
            <a:pPr algn="l">
              <a:defRPr/>
            </a:pPr>
            <a:r>
              <a:rPr sz="1000" b="0" i="0">
                <a:solidFill>
                  <a:srgbClr val="A9B4C2"/>
                </a:solidFill>
                <a:latin typeface="Arial"/>
              </a:rPr>
              <a:t>Measured on your own signal, lands in the slot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E1217"/>
        </a:solidFill>
      </p:bgPr>
    </p:bg>
    <p:spTree>
      <p:nvGrpSpPr>
        <p:cNvPr id="1" name=""/>
        <p:cNvGrpSpPr/>
        <p:nvPr/>
      </p:nvGrpSpPr>
      <p:grpSpPr bwMode="auto">
        <a:xfrm>
          <a:off x="0" y="0"/>
          <a:ext cx="0" cy="0"/>
          <a:chOff x="0" y="0"/>
          <a:chExt cx="0" cy="0"/>
        </a:xfrm>
      </p:grpSpPr>
      <p:sp>
        <p:nvSpPr>
          <p:cNvPr id="1201752034" name="TextBox 1"/>
          <p:cNvSpPr txBox="1"/>
          <p:nvPr/>
        </p:nvSpPr>
        <p:spPr bwMode="auto">
          <a:xfrm>
            <a:off x="457200" y="118872"/>
            <a:ext cx="8229600" cy="685800"/>
          </a:xfrm>
          <a:prstGeom prst="rect">
            <a:avLst/>
          </a:prstGeom>
          <a:noFill/>
        </p:spPr>
        <p:txBody>
          <a:bodyPr wrap="square" lIns="0" tIns="0" rIns="0" bIns="0" anchor="ctr">
            <a:spAutoFit/>
          </a:bodyPr>
          <a:lstStyle/>
          <a:p>
            <a:pPr algn="l">
              <a:defRPr/>
            </a:pPr>
            <a:r>
              <a:rPr sz="3600" b="1" i="0">
                <a:solidFill>
                  <a:srgbClr val="FFFFFF"/>
                </a:solidFill>
                <a:latin typeface="Arial"/>
              </a:rPr>
              <a:t>RX: watch QO-100 in the browser</a:t>
            </a:r>
            <a:endParaRPr/>
          </a:p>
        </p:txBody>
      </p:sp>
      <p:sp>
        <p:nvSpPr>
          <p:cNvPr id="713112761" name="TextBox 2"/>
          <p:cNvSpPr txBox="1"/>
          <p:nvPr/>
        </p:nvSpPr>
        <p:spPr bwMode="auto">
          <a:xfrm>
            <a:off x="457200" y="923544"/>
            <a:ext cx="8229600" cy="274320"/>
          </a:xfrm>
          <a:prstGeom prst="rect">
            <a:avLst/>
          </a:prstGeom>
          <a:noFill/>
        </p:spPr>
        <p:txBody>
          <a:bodyPr wrap="square" lIns="0" tIns="0" rIns="0" bIns="0" anchor="ctr">
            <a:spAutoFit/>
          </a:bodyPr>
          <a:lstStyle/>
          <a:p>
            <a:pPr algn="l">
              <a:defRPr/>
            </a:pPr>
            <a:r>
              <a:rPr sz="1100" b="1" i="0" spc="200">
                <a:solidFill>
                  <a:srgbClr val="76B900"/>
                </a:solidFill>
                <a:latin typeface="Arial"/>
              </a:rPr>
              <a:t>OPENTUNER  ·  MINITIOUNER  ·  OPTIONAL</a:t>
            </a:r>
            <a:endParaRPr/>
          </a:p>
        </p:txBody>
      </p:sp>
      <p:sp>
        <p:nvSpPr>
          <p:cNvPr id="1817500273" name="TextBox 3"/>
          <p:cNvSpPr txBox="1"/>
          <p:nvPr/>
        </p:nvSpPr>
        <p:spPr bwMode="auto">
          <a:xfrm>
            <a:off x="457200" y="1325880"/>
            <a:ext cx="8229600" cy="365760"/>
          </a:xfrm>
          <a:prstGeom prst="rect">
            <a:avLst/>
          </a:prstGeom>
          <a:noFill/>
        </p:spPr>
        <p:txBody>
          <a:bodyPr wrap="square" lIns="0" tIns="0" rIns="0" bIns="0" anchor="ctr">
            <a:spAutoFit/>
          </a:bodyPr>
          <a:lstStyle/>
          <a:p>
            <a:pPr algn="l">
              <a:defRPr/>
            </a:pPr>
            <a:r>
              <a:rPr sz="1600" b="0" i="1">
                <a:solidFill>
                  <a:srgbClr val="A9B4C2"/>
                </a:solidFill>
                <a:latin typeface="Arial"/>
              </a:rPr>
              <a:t>Click any signal on the spectrum to tune the receiver.</a:t>
            </a:r>
            <a:endParaRPr/>
          </a:p>
        </p:txBody>
      </p:sp>
      <p:pic>
        <p:nvPicPr>
          <p:cNvPr id="67465935" name="Picture 4" descr="t_rx.png"/>
          <p:cNvPicPr>
            <a:picLocks noChangeAspect="1"/>
          </p:cNvPicPr>
          <p:nvPr/>
        </p:nvPicPr>
        <p:blipFill rotWithShape="1">
          <a:blip r:embed="rId3"/>
          <a:stretch/>
        </p:blipFill>
        <p:spPr bwMode="auto">
          <a:xfrm>
            <a:off x="457200" y="1920240"/>
            <a:ext cx="4230805" cy="2834640"/>
          </a:xfrm>
          <a:prstGeom prst="rect">
            <a:avLst/>
          </a:prstGeom>
          <a:ln w="12700">
            <a:solidFill>
              <a:srgbClr val="2A3340"/>
            </a:solidFill>
          </a:ln>
        </p:spPr>
      </p:pic>
      <p:sp>
        <p:nvSpPr>
          <p:cNvPr id="1367767637" name="Oval 5"/>
          <p:cNvSpPr/>
          <p:nvPr/>
        </p:nvSpPr>
        <p:spPr bwMode="auto">
          <a:xfrm>
            <a:off x="5008045" y="1965960"/>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731844808" name="Picture 6" descr="MdTouchApp.png"/>
          <p:cNvPicPr>
            <a:picLocks noChangeAspect="1"/>
          </p:cNvPicPr>
          <p:nvPr/>
        </p:nvPicPr>
        <p:blipFill rotWithShape="1">
          <a:blip r:embed="rId4"/>
          <a:stretch/>
        </p:blipFill>
        <p:spPr bwMode="auto">
          <a:xfrm>
            <a:off x="5099485" y="2057400"/>
            <a:ext cx="182880" cy="182880"/>
          </a:xfrm>
          <a:prstGeom prst="rect">
            <a:avLst/>
          </a:prstGeom>
        </p:spPr>
      </p:pic>
      <p:sp>
        <p:nvSpPr>
          <p:cNvPr id="1092866113" name="TextBox 7"/>
          <p:cNvSpPr txBox="1"/>
          <p:nvPr/>
        </p:nvSpPr>
        <p:spPr bwMode="auto">
          <a:xfrm>
            <a:off x="5538397" y="1938528"/>
            <a:ext cx="3148402" cy="237744"/>
          </a:xfrm>
          <a:prstGeom prst="rect">
            <a:avLst/>
          </a:prstGeom>
          <a:noFill/>
        </p:spPr>
        <p:txBody>
          <a:bodyPr wrap="square" lIns="0" tIns="0" rIns="0" bIns="0" anchor="t">
            <a:spAutoFit/>
          </a:bodyPr>
          <a:lstStyle/>
          <a:p>
            <a:pPr algn="l">
              <a:defRPr/>
            </a:pPr>
            <a:r>
              <a:rPr sz="1250" b="1" i="0">
                <a:solidFill>
                  <a:srgbClr val="FFFFFF"/>
                </a:solidFill>
                <a:latin typeface="Arial"/>
              </a:rPr>
              <a:t>Click to tune</a:t>
            </a:r>
            <a:endParaRPr/>
          </a:p>
        </p:txBody>
      </p:sp>
      <p:sp>
        <p:nvSpPr>
          <p:cNvPr id="842879448" name="TextBox 8"/>
          <p:cNvSpPr txBox="1"/>
          <p:nvPr/>
        </p:nvSpPr>
        <p:spPr bwMode="auto">
          <a:xfrm>
            <a:off x="5538397" y="2185415"/>
            <a:ext cx="3148402" cy="457200"/>
          </a:xfrm>
          <a:prstGeom prst="rect">
            <a:avLst/>
          </a:prstGeom>
          <a:noFill/>
        </p:spPr>
        <p:txBody>
          <a:bodyPr wrap="square" lIns="0" tIns="0" rIns="0" bIns="0" anchor="t">
            <a:spAutoFit/>
          </a:bodyPr>
          <a:lstStyle/>
          <a:p>
            <a:pPr algn="l">
              <a:defRPr/>
            </a:pPr>
            <a:r>
              <a:rPr sz="1000" b="0" i="0">
                <a:solidFill>
                  <a:srgbClr val="A9B4C2"/>
                </a:solidFill>
                <a:latin typeface="Arial"/>
              </a:rPr>
              <a:t>Pick any signal on the BATC spectrum</a:t>
            </a:r>
            <a:endParaRPr/>
          </a:p>
        </p:txBody>
      </p:sp>
      <p:sp>
        <p:nvSpPr>
          <p:cNvPr id="1653326513" name="Oval 9"/>
          <p:cNvSpPr/>
          <p:nvPr/>
        </p:nvSpPr>
        <p:spPr bwMode="auto">
          <a:xfrm>
            <a:off x="5008045" y="2679191"/>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693982713" name="Picture 10" descr="MdLiveTv.png"/>
          <p:cNvPicPr>
            <a:picLocks noChangeAspect="1"/>
          </p:cNvPicPr>
          <p:nvPr/>
        </p:nvPicPr>
        <p:blipFill rotWithShape="1">
          <a:blip r:embed="rId5"/>
          <a:stretch/>
        </p:blipFill>
        <p:spPr bwMode="auto">
          <a:xfrm>
            <a:off x="5099485" y="2770632"/>
            <a:ext cx="182880" cy="182880"/>
          </a:xfrm>
          <a:prstGeom prst="rect">
            <a:avLst/>
          </a:prstGeom>
        </p:spPr>
      </p:pic>
      <p:sp>
        <p:nvSpPr>
          <p:cNvPr id="1669773146" name="TextBox 11"/>
          <p:cNvSpPr txBox="1"/>
          <p:nvPr/>
        </p:nvSpPr>
        <p:spPr bwMode="auto">
          <a:xfrm>
            <a:off x="5538397" y="2651760"/>
            <a:ext cx="3148402" cy="237744"/>
          </a:xfrm>
          <a:prstGeom prst="rect">
            <a:avLst/>
          </a:prstGeom>
          <a:noFill/>
        </p:spPr>
        <p:txBody>
          <a:bodyPr wrap="square" lIns="0" tIns="0" rIns="0" bIns="0" anchor="t">
            <a:spAutoFit/>
          </a:bodyPr>
          <a:lstStyle/>
          <a:p>
            <a:pPr algn="l">
              <a:defRPr/>
            </a:pPr>
            <a:r>
              <a:rPr sz="1250" b="1" i="0">
                <a:solidFill>
                  <a:srgbClr val="FFFFFF"/>
                </a:solidFill>
                <a:latin typeface="Arial"/>
              </a:rPr>
              <a:t>Live video and receiver data</a:t>
            </a:r>
            <a:endParaRPr/>
          </a:p>
        </p:txBody>
      </p:sp>
      <p:sp>
        <p:nvSpPr>
          <p:cNvPr id="1470838762" name="TextBox 12"/>
          <p:cNvSpPr txBox="1"/>
          <p:nvPr/>
        </p:nvSpPr>
        <p:spPr bwMode="auto">
          <a:xfrm>
            <a:off x="5538397" y="2898648"/>
            <a:ext cx="3148402" cy="457200"/>
          </a:xfrm>
          <a:prstGeom prst="rect">
            <a:avLst/>
          </a:prstGeom>
          <a:noFill/>
        </p:spPr>
        <p:txBody>
          <a:bodyPr wrap="square" lIns="0" tIns="0" rIns="0" bIns="0" anchor="t">
            <a:spAutoFit/>
          </a:bodyPr>
          <a:lstStyle/>
          <a:p>
            <a:pPr algn="l">
              <a:defRPr/>
            </a:pPr>
            <a:r>
              <a:rPr sz="1000" b="0" i="0">
                <a:solidFill>
                  <a:srgbClr val="A9B4C2"/>
                </a:solidFill>
                <a:latin typeface="Arial"/>
              </a:rPr>
              <a:t>MER, margin, modcod, service name</a:t>
            </a:r>
            <a:endParaRPr/>
          </a:p>
        </p:txBody>
      </p:sp>
      <p:sp>
        <p:nvSpPr>
          <p:cNvPr id="29889325" name="Oval 13"/>
          <p:cNvSpPr/>
          <p:nvPr/>
        </p:nvSpPr>
        <p:spPr bwMode="auto">
          <a:xfrm>
            <a:off x="5008045" y="3392424"/>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980858159" name="Picture 14" descr="MdTune.png"/>
          <p:cNvPicPr>
            <a:picLocks noChangeAspect="1"/>
          </p:cNvPicPr>
          <p:nvPr/>
        </p:nvPicPr>
        <p:blipFill rotWithShape="1">
          <a:blip r:embed="rId6"/>
          <a:stretch/>
        </p:blipFill>
        <p:spPr bwMode="auto">
          <a:xfrm>
            <a:off x="5099485" y="3483864"/>
            <a:ext cx="182880" cy="182880"/>
          </a:xfrm>
          <a:prstGeom prst="rect">
            <a:avLst/>
          </a:prstGeom>
        </p:spPr>
      </p:pic>
      <p:sp>
        <p:nvSpPr>
          <p:cNvPr id="487707405" name="TextBox 15"/>
          <p:cNvSpPr txBox="1"/>
          <p:nvPr/>
        </p:nvSpPr>
        <p:spPr bwMode="auto">
          <a:xfrm>
            <a:off x="5538397" y="3364992"/>
            <a:ext cx="3148402" cy="237744"/>
          </a:xfrm>
          <a:prstGeom prst="rect">
            <a:avLst/>
          </a:prstGeom>
          <a:noFill/>
        </p:spPr>
        <p:txBody>
          <a:bodyPr wrap="square" lIns="0" tIns="0" rIns="0" bIns="0" anchor="t">
            <a:spAutoFit/>
          </a:bodyPr>
          <a:lstStyle/>
          <a:p>
            <a:pPr algn="l">
              <a:defRPr/>
            </a:pPr>
            <a:r>
              <a:rPr sz="1250" b="1" i="0">
                <a:solidFill>
                  <a:srgbClr val="FFFFFF"/>
                </a:solidFill>
                <a:latin typeface="Arial"/>
              </a:rPr>
              <a:t>Auto-tune on TX</a:t>
            </a:r>
            <a:endParaRPr/>
          </a:p>
        </p:txBody>
      </p:sp>
      <p:sp>
        <p:nvSpPr>
          <p:cNvPr id="591031255" name="TextBox 16"/>
          <p:cNvSpPr txBox="1"/>
          <p:nvPr/>
        </p:nvSpPr>
        <p:spPr bwMode="auto">
          <a:xfrm>
            <a:off x="5538397" y="3611880"/>
            <a:ext cx="3148402" cy="457200"/>
          </a:xfrm>
          <a:prstGeom prst="rect">
            <a:avLst/>
          </a:prstGeom>
          <a:noFill/>
        </p:spPr>
        <p:txBody>
          <a:bodyPr wrap="square" lIns="0" tIns="0" rIns="0" bIns="0" anchor="t">
            <a:spAutoFit/>
          </a:bodyPr>
          <a:lstStyle/>
          <a:p>
            <a:pPr algn="l">
              <a:defRPr/>
            </a:pPr>
            <a:r>
              <a:rPr sz="1000" b="0" i="0">
                <a:solidFill>
                  <a:srgbClr val="A9B4C2"/>
                </a:solidFill>
                <a:latin typeface="Arial"/>
              </a:rPr>
              <a:t>OpenTuner follows you on every stream start</a:t>
            </a:r>
            <a:endParaRPr/>
          </a:p>
        </p:txBody>
      </p:sp>
      <p:sp>
        <p:nvSpPr>
          <p:cNvPr id="1890905685" name="Oval 17"/>
          <p:cNvSpPr/>
          <p:nvPr/>
        </p:nvSpPr>
        <p:spPr bwMode="auto">
          <a:xfrm>
            <a:off x="5008045" y="4105656"/>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471142809" name="Picture 18" descr="MdGpsFixed.png"/>
          <p:cNvPicPr>
            <a:picLocks noChangeAspect="1"/>
          </p:cNvPicPr>
          <p:nvPr/>
        </p:nvPicPr>
        <p:blipFill rotWithShape="1">
          <a:blip r:embed="rId7"/>
          <a:stretch/>
        </p:blipFill>
        <p:spPr bwMode="auto">
          <a:xfrm>
            <a:off x="5099485" y="4197096"/>
            <a:ext cx="182880" cy="182880"/>
          </a:xfrm>
          <a:prstGeom prst="rect">
            <a:avLst/>
          </a:prstGeom>
        </p:spPr>
      </p:pic>
      <p:sp>
        <p:nvSpPr>
          <p:cNvPr id="1340933353" name="TextBox 19"/>
          <p:cNvSpPr txBox="1"/>
          <p:nvPr/>
        </p:nvSpPr>
        <p:spPr bwMode="auto">
          <a:xfrm>
            <a:off x="5538397" y="4078224"/>
            <a:ext cx="3148402" cy="237744"/>
          </a:xfrm>
          <a:prstGeom prst="rect">
            <a:avLst/>
          </a:prstGeom>
          <a:noFill/>
        </p:spPr>
        <p:txBody>
          <a:bodyPr wrap="square" lIns="0" tIns="0" rIns="0" bIns="0" anchor="t">
            <a:spAutoFit/>
          </a:bodyPr>
          <a:lstStyle/>
          <a:p>
            <a:pPr algn="l">
              <a:defRPr/>
            </a:pPr>
            <a:r>
              <a:rPr sz="1250" b="1" i="0">
                <a:solidFill>
                  <a:srgbClr val="FFFFFF"/>
                </a:solidFill>
                <a:latin typeface="Arial"/>
              </a:rPr>
              <a:t>Beacon auto-calibration</a:t>
            </a:r>
            <a:endParaRPr/>
          </a:p>
        </p:txBody>
      </p:sp>
      <p:sp>
        <p:nvSpPr>
          <p:cNvPr id="1676332223" name="TextBox 20"/>
          <p:cNvSpPr txBox="1"/>
          <p:nvPr/>
        </p:nvSpPr>
        <p:spPr bwMode="auto">
          <a:xfrm>
            <a:off x="5538397" y="4325112"/>
            <a:ext cx="3148402" cy="457200"/>
          </a:xfrm>
          <a:prstGeom prst="rect">
            <a:avLst/>
          </a:prstGeom>
          <a:noFill/>
        </p:spPr>
        <p:txBody>
          <a:bodyPr wrap="square" lIns="0" tIns="0" rIns="0" bIns="0" anchor="t">
            <a:spAutoFit/>
          </a:bodyPr>
          <a:lstStyle/>
          <a:p>
            <a:pPr algn="l">
              <a:defRPr/>
            </a:pPr>
            <a:r>
              <a:rPr sz="1000" b="0" i="0">
                <a:solidFill>
                  <a:srgbClr val="A9B4C2"/>
                </a:solidFill>
                <a:latin typeface="Arial"/>
              </a:rPr>
              <a:t>LNB error measured and tracked by itself</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E1217"/>
        </a:solidFill>
      </p:bgPr>
    </p:bg>
    <p:spTree>
      <p:nvGrpSpPr>
        <p:cNvPr id="1" name=""/>
        <p:cNvGrpSpPr/>
        <p:nvPr/>
      </p:nvGrpSpPr>
      <p:grpSpPr bwMode="auto">
        <a:xfrm>
          <a:off x="0" y="0"/>
          <a:ext cx="0" cy="0"/>
          <a:chOff x="0" y="0"/>
          <a:chExt cx="0" cy="0"/>
        </a:xfrm>
      </p:grpSpPr>
      <p:sp>
        <p:nvSpPr>
          <p:cNvPr id="1494108963" name="TextBox 1"/>
          <p:cNvSpPr txBox="1"/>
          <p:nvPr/>
        </p:nvSpPr>
        <p:spPr bwMode="auto">
          <a:xfrm>
            <a:off x="457200" y="118872"/>
            <a:ext cx="8229600" cy="685800"/>
          </a:xfrm>
          <a:prstGeom prst="rect">
            <a:avLst/>
          </a:prstGeom>
          <a:noFill/>
        </p:spPr>
        <p:txBody>
          <a:bodyPr wrap="square" lIns="0" tIns="0" rIns="0" bIns="0" anchor="ctr">
            <a:spAutoFit/>
          </a:bodyPr>
          <a:lstStyle/>
          <a:p>
            <a:pPr algn="l">
              <a:defRPr/>
            </a:pPr>
            <a:r>
              <a:rPr sz="3600" b="1" i="0">
                <a:solidFill>
                  <a:srgbClr val="FFFFFF"/>
                </a:solidFill>
                <a:latin typeface="Arial"/>
              </a:rPr>
              <a:t>Video Library: your own clips</a:t>
            </a:r>
            <a:endParaRPr/>
          </a:p>
        </p:txBody>
      </p:sp>
      <p:sp>
        <p:nvSpPr>
          <p:cNvPr id="1038767615" name="TextBox 2"/>
          <p:cNvSpPr txBox="1"/>
          <p:nvPr/>
        </p:nvSpPr>
        <p:spPr bwMode="auto">
          <a:xfrm>
            <a:off x="457200" y="923544"/>
            <a:ext cx="8229600" cy="274320"/>
          </a:xfrm>
          <a:prstGeom prst="rect">
            <a:avLst/>
          </a:prstGeom>
          <a:noFill/>
        </p:spPr>
        <p:txBody>
          <a:bodyPr wrap="square" lIns="0" tIns="0" rIns="0" bIns="0" anchor="ctr">
            <a:spAutoFit/>
          </a:bodyPr>
          <a:lstStyle/>
          <a:p>
            <a:pPr algn="l">
              <a:defRPr/>
            </a:pPr>
            <a:r>
              <a:rPr sz="1100" b="1" i="0" spc="200">
                <a:solidFill>
                  <a:srgbClr val="76B900"/>
                </a:solidFill>
                <a:latin typeface="Arial"/>
              </a:rPr>
              <a:t>UPLOAD  ·  AUTO-CONVERT  ·  USB DRIVE</a:t>
            </a:r>
            <a:endParaRPr/>
          </a:p>
        </p:txBody>
      </p:sp>
      <p:sp>
        <p:nvSpPr>
          <p:cNvPr id="610144982" name="TextBox 3"/>
          <p:cNvSpPr txBox="1"/>
          <p:nvPr/>
        </p:nvSpPr>
        <p:spPr bwMode="auto">
          <a:xfrm>
            <a:off x="457200" y="1325880"/>
            <a:ext cx="8229600" cy="365760"/>
          </a:xfrm>
          <a:prstGeom prst="rect">
            <a:avLst/>
          </a:prstGeom>
          <a:noFill/>
        </p:spPr>
        <p:txBody>
          <a:bodyPr wrap="square" lIns="0" tIns="0" rIns="0" bIns="0" anchor="ctr">
            <a:spAutoFit/>
          </a:bodyPr>
          <a:lstStyle/>
          <a:p>
            <a:pPr algn="l">
              <a:defRPr/>
            </a:pPr>
            <a:r>
              <a:rPr sz="1600" b="0" i="1">
                <a:solidFill>
                  <a:srgbClr val="A9B4C2"/>
                </a:solidFill>
                <a:latin typeface="Arial"/>
              </a:rPr>
              <a:t>Drop a file in the browser; the Jetson makes it DATV-ready.</a:t>
            </a:r>
            <a:endParaRPr/>
          </a:p>
        </p:txBody>
      </p:sp>
      <p:pic>
        <p:nvPicPr>
          <p:cNvPr id="1411119775" name="Picture 4" descr="lib.png"/>
          <p:cNvPicPr>
            <a:picLocks noChangeAspect="1"/>
          </p:cNvPicPr>
          <p:nvPr/>
        </p:nvPicPr>
        <p:blipFill rotWithShape="1">
          <a:blip r:embed="rId3"/>
          <a:stretch/>
        </p:blipFill>
        <p:spPr bwMode="auto">
          <a:xfrm>
            <a:off x="457200" y="1920240"/>
            <a:ext cx="4754880" cy="2259672"/>
          </a:xfrm>
          <a:prstGeom prst="rect">
            <a:avLst/>
          </a:prstGeom>
          <a:ln w="12700">
            <a:solidFill>
              <a:srgbClr val="2A3340"/>
            </a:solidFill>
          </a:ln>
        </p:spPr>
      </p:pic>
      <p:pic>
        <p:nvPicPr>
          <p:cNvPr id="220117805" name="Picture 5" descr="stats.png"/>
          <p:cNvPicPr>
            <a:picLocks noChangeAspect="1"/>
          </p:cNvPicPr>
          <p:nvPr/>
        </p:nvPicPr>
        <p:blipFill rotWithShape="1">
          <a:blip r:embed="rId4"/>
          <a:stretch/>
        </p:blipFill>
        <p:spPr bwMode="auto">
          <a:xfrm>
            <a:off x="457200" y="4317072"/>
            <a:ext cx="4754880" cy="500512"/>
          </a:xfrm>
          <a:prstGeom prst="rect">
            <a:avLst/>
          </a:prstGeom>
          <a:ln w="12700">
            <a:solidFill>
              <a:srgbClr val="2A3340"/>
            </a:solidFill>
          </a:ln>
        </p:spPr>
      </p:pic>
      <p:sp>
        <p:nvSpPr>
          <p:cNvPr id="293745028" name="Oval 6"/>
          <p:cNvSpPr/>
          <p:nvPr/>
        </p:nvSpPr>
        <p:spPr bwMode="auto">
          <a:xfrm>
            <a:off x="5532120" y="1965960"/>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007086381" name="Picture 7" descr="MdUpload.png"/>
          <p:cNvPicPr>
            <a:picLocks noChangeAspect="1"/>
          </p:cNvPicPr>
          <p:nvPr/>
        </p:nvPicPr>
        <p:blipFill rotWithShape="1">
          <a:blip r:embed="rId5"/>
          <a:stretch/>
        </p:blipFill>
        <p:spPr bwMode="auto">
          <a:xfrm>
            <a:off x="5623559" y="2057400"/>
            <a:ext cx="182880" cy="182880"/>
          </a:xfrm>
          <a:prstGeom prst="rect">
            <a:avLst/>
          </a:prstGeom>
        </p:spPr>
      </p:pic>
      <p:sp>
        <p:nvSpPr>
          <p:cNvPr id="520708155" name="TextBox 8"/>
          <p:cNvSpPr txBox="1"/>
          <p:nvPr/>
        </p:nvSpPr>
        <p:spPr bwMode="auto">
          <a:xfrm>
            <a:off x="6062471" y="1938528"/>
            <a:ext cx="2624328" cy="237744"/>
          </a:xfrm>
          <a:prstGeom prst="rect">
            <a:avLst/>
          </a:prstGeom>
          <a:noFill/>
        </p:spPr>
        <p:txBody>
          <a:bodyPr wrap="square" lIns="0" tIns="0" rIns="0" bIns="0" anchor="t">
            <a:spAutoFit/>
          </a:bodyPr>
          <a:lstStyle/>
          <a:p>
            <a:pPr algn="l">
              <a:defRPr/>
            </a:pPr>
            <a:r>
              <a:rPr sz="1250" b="1" i="0">
                <a:solidFill>
                  <a:srgbClr val="FFFFFF"/>
                </a:solidFill>
                <a:latin typeface="Arial"/>
              </a:rPr>
              <a:t>Drop any format</a:t>
            </a:r>
            <a:endParaRPr/>
          </a:p>
        </p:txBody>
      </p:sp>
      <p:sp>
        <p:nvSpPr>
          <p:cNvPr id="204338306" name="TextBox 9"/>
          <p:cNvSpPr txBox="1"/>
          <p:nvPr/>
        </p:nvSpPr>
        <p:spPr bwMode="auto">
          <a:xfrm>
            <a:off x="6062471" y="2185415"/>
            <a:ext cx="2624328" cy="457200"/>
          </a:xfrm>
          <a:prstGeom prst="rect">
            <a:avLst/>
          </a:prstGeom>
          <a:noFill/>
        </p:spPr>
        <p:txBody>
          <a:bodyPr wrap="square" lIns="0" tIns="0" rIns="0" bIns="0" anchor="t">
            <a:spAutoFit/>
          </a:bodyPr>
          <a:lstStyle/>
          <a:p>
            <a:pPr algn="l">
              <a:defRPr/>
            </a:pPr>
            <a:r>
              <a:rPr sz="1000" b="0" i="0">
                <a:solidFill>
                  <a:srgbClr val="A9B4C2"/>
                </a:solidFill>
                <a:latin typeface="Arial"/>
              </a:rPr>
              <a:t>MP4, MOV, AVI, MKV, WebM, up to 8 GiB</a:t>
            </a:r>
            <a:endParaRPr/>
          </a:p>
        </p:txBody>
      </p:sp>
      <p:sp>
        <p:nvSpPr>
          <p:cNvPr id="203478031" name="Oval 10"/>
          <p:cNvSpPr/>
          <p:nvPr/>
        </p:nvSpPr>
        <p:spPr bwMode="auto">
          <a:xfrm>
            <a:off x="5532120" y="2679191"/>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815566888" name="Picture 11" descr="MdMovie.png"/>
          <p:cNvPicPr>
            <a:picLocks noChangeAspect="1"/>
          </p:cNvPicPr>
          <p:nvPr/>
        </p:nvPicPr>
        <p:blipFill rotWithShape="1">
          <a:blip r:embed="rId6"/>
          <a:stretch/>
        </p:blipFill>
        <p:spPr bwMode="auto">
          <a:xfrm>
            <a:off x="5623559" y="2770632"/>
            <a:ext cx="182880" cy="182880"/>
          </a:xfrm>
          <a:prstGeom prst="rect">
            <a:avLst/>
          </a:prstGeom>
        </p:spPr>
      </p:pic>
      <p:sp>
        <p:nvSpPr>
          <p:cNvPr id="759731119" name="TextBox 12"/>
          <p:cNvSpPr txBox="1"/>
          <p:nvPr/>
        </p:nvSpPr>
        <p:spPr bwMode="auto">
          <a:xfrm>
            <a:off x="6062471" y="2651760"/>
            <a:ext cx="2624328" cy="237744"/>
          </a:xfrm>
          <a:prstGeom prst="rect">
            <a:avLst/>
          </a:prstGeom>
          <a:noFill/>
        </p:spPr>
        <p:txBody>
          <a:bodyPr wrap="square" lIns="0" tIns="0" rIns="0" bIns="0" anchor="t">
            <a:spAutoFit/>
          </a:bodyPr>
          <a:lstStyle/>
          <a:p>
            <a:pPr algn="l">
              <a:defRPr/>
            </a:pPr>
            <a:r>
              <a:rPr sz="1250" b="1" i="0">
                <a:solidFill>
                  <a:srgbClr val="FFFFFF"/>
                </a:solidFill>
                <a:latin typeface="Arial"/>
              </a:rPr>
              <a:t>Prepared automatically</a:t>
            </a:r>
            <a:endParaRPr/>
          </a:p>
        </p:txBody>
      </p:sp>
      <p:sp>
        <p:nvSpPr>
          <p:cNvPr id="1309864400" name="TextBox 13"/>
          <p:cNvSpPr txBox="1"/>
          <p:nvPr/>
        </p:nvSpPr>
        <p:spPr bwMode="auto">
          <a:xfrm>
            <a:off x="6062471" y="2898648"/>
            <a:ext cx="2624328" cy="457200"/>
          </a:xfrm>
          <a:prstGeom prst="rect">
            <a:avLst/>
          </a:prstGeom>
          <a:noFill/>
        </p:spPr>
        <p:txBody>
          <a:bodyPr wrap="square" lIns="0" tIns="0" rIns="0" bIns="0" anchor="t">
            <a:spAutoFit/>
          </a:bodyPr>
          <a:lstStyle/>
          <a:p>
            <a:pPr algn="l">
              <a:defRPr/>
            </a:pPr>
            <a:r>
              <a:rPr sz="1000" b="0" i="0">
                <a:solidFill>
                  <a:srgbClr val="A9B4C2"/>
                </a:solidFill>
                <a:latin typeface="Arial"/>
              </a:rPr>
              <a:t>H.264, 1280×720, 25 fps</a:t>
            </a:r>
            <a:endParaRPr/>
          </a:p>
        </p:txBody>
      </p:sp>
      <p:sp>
        <p:nvSpPr>
          <p:cNvPr id="249375861" name="Oval 14"/>
          <p:cNvSpPr/>
          <p:nvPr/>
        </p:nvSpPr>
        <p:spPr bwMode="auto">
          <a:xfrm>
            <a:off x="5532120" y="3392424"/>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363065718" name="Picture 15" descr="MdUsb.png"/>
          <p:cNvPicPr>
            <a:picLocks noChangeAspect="1"/>
          </p:cNvPicPr>
          <p:nvPr/>
        </p:nvPicPr>
        <p:blipFill rotWithShape="1">
          <a:blip r:embed="rId7"/>
          <a:stretch/>
        </p:blipFill>
        <p:spPr bwMode="auto">
          <a:xfrm>
            <a:off x="5623559" y="3483864"/>
            <a:ext cx="182880" cy="182880"/>
          </a:xfrm>
          <a:prstGeom prst="rect">
            <a:avLst/>
          </a:prstGeom>
        </p:spPr>
      </p:pic>
      <p:sp>
        <p:nvSpPr>
          <p:cNvPr id="900941747" name="TextBox 16"/>
          <p:cNvSpPr txBox="1"/>
          <p:nvPr/>
        </p:nvSpPr>
        <p:spPr bwMode="auto">
          <a:xfrm>
            <a:off x="6062471" y="3364992"/>
            <a:ext cx="2624328" cy="237744"/>
          </a:xfrm>
          <a:prstGeom prst="rect">
            <a:avLst/>
          </a:prstGeom>
          <a:noFill/>
        </p:spPr>
        <p:txBody>
          <a:bodyPr wrap="square" lIns="0" tIns="0" rIns="0" bIns="0" anchor="t">
            <a:spAutoFit/>
          </a:bodyPr>
          <a:lstStyle/>
          <a:p>
            <a:pPr algn="l">
              <a:defRPr/>
            </a:pPr>
            <a:r>
              <a:rPr sz="1250" b="1" i="0">
                <a:solidFill>
                  <a:srgbClr val="FFFFFF"/>
                </a:solidFill>
                <a:latin typeface="Arial"/>
              </a:rPr>
              <a:t>Kept on a USB drive</a:t>
            </a:r>
            <a:endParaRPr/>
          </a:p>
        </p:txBody>
      </p:sp>
      <p:sp>
        <p:nvSpPr>
          <p:cNvPr id="1219915502" name="TextBox 17"/>
          <p:cNvSpPr txBox="1"/>
          <p:nvPr/>
        </p:nvSpPr>
        <p:spPr bwMode="auto">
          <a:xfrm>
            <a:off x="6062471" y="3611880"/>
            <a:ext cx="2624328" cy="457200"/>
          </a:xfrm>
          <a:prstGeom prst="rect">
            <a:avLst/>
          </a:prstGeom>
          <a:noFill/>
        </p:spPr>
        <p:txBody>
          <a:bodyPr wrap="square" lIns="0" tIns="0" rIns="0" bIns="0" anchor="t">
            <a:spAutoFit/>
          </a:bodyPr>
          <a:lstStyle/>
          <a:p>
            <a:pPr algn="l">
              <a:defRPr/>
            </a:pPr>
            <a:r>
              <a:rPr sz="1000" b="0" i="0">
                <a:solidFill>
                  <a:srgbClr val="A9B4C2"/>
                </a:solidFill>
                <a:latin typeface="Arial"/>
              </a:rPr>
              <a:t>Preview, delete, then pick it under Video</a:t>
            </a:r>
            <a:endParaRPr/>
          </a:p>
        </p:txBody>
      </p:sp>
      <p:sp>
        <p:nvSpPr>
          <p:cNvPr id="286241602" name="Oval 18"/>
          <p:cNvSpPr/>
          <p:nvPr/>
        </p:nvSpPr>
        <p:spPr bwMode="auto">
          <a:xfrm>
            <a:off x="5532120" y="4105656"/>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753247783" name="Picture 19" descr="MdMonitorHeart.png"/>
          <p:cNvPicPr>
            <a:picLocks noChangeAspect="1"/>
          </p:cNvPicPr>
          <p:nvPr/>
        </p:nvPicPr>
        <p:blipFill rotWithShape="1">
          <a:blip r:embed="rId8"/>
          <a:stretch/>
        </p:blipFill>
        <p:spPr bwMode="auto">
          <a:xfrm>
            <a:off x="5623559" y="4197096"/>
            <a:ext cx="182880" cy="182880"/>
          </a:xfrm>
          <a:prstGeom prst="rect">
            <a:avLst/>
          </a:prstGeom>
        </p:spPr>
      </p:pic>
      <p:sp>
        <p:nvSpPr>
          <p:cNvPr id="1279872729" name="TextBox 20"/>
          <p:cNvSpPr txBox="1"/>
          <p:nvPr/>
        </p:nvSpPr>
        <p:spPr bwMode="auto">
          <a:xfrm>
            <a:off x="6062471" y="4078224"/>
            <a:ext cx="2624328" cy="237744"/>
          </a:xfrm>
          <a:prstGeom prst="rect">
            <a:avLst/>
          </a:prstGeom>
          <a:noFill/>
        </p:spPr>
        <p:txBody>
          <a:bodyPr wrap="square" lIns="0" tIns="0" rIns="0" bIns="0" anchor="t">
            <a:spAutoFit/>
          </a:bodyPr>
          <a:lstStyle/>
          <a:p>
            <a:pPr algn="l">
              <a:defRPr/>
            </a:pPr>
            <a:r>
              <a:rPr sz="1250" b="1" i="0">
                <a:solidFill>
                  <a:srgbClr val="FFFFFF"/>
                </a:solidFill>
                <a:latin typeface="Arial"/>
              </a:rPr>
              <a:t>Live system stats</a:t>
            </a:r>
            <a:endParaRPr/>
          </a:p>
        </p:txBody>
      </p:sp>
      <p:sp>
        <p:nvSpPr>
          <p:cNvPr id="68381677" name="TextBox 21"/>
          <p:cNvSpPr txBox="1"/>
          <p:nvPr/>
        </p:nvSpPr>
        <p:spPr bwMode="auto">
          <a:xfrm>
            <a:off x="6062471" y="4325112"/>
            <a:ext cx="2624328" cy="457200"/>
          </a:xfrm>
          <a:prstGeom prst="rect">
            <a:avLst/>
          </a:prstGeom>
          <a:noFill/>
        </p:spPr>
        <p:txBody>
          <a:bodyPr wrap="square" lIns="0" tIns="0" rIns="0" bIns="0" anchor="t">
            <a:spAutoFit/>
          </a:bodyPr>
          <a:lstStyle/>
          <a:p>
            <a:pPr algn="l">
              <a:defRPr/>
            </a:pPr>
            <a:r>
              <a:rPr sz="1000" b="0" i="0">
                <a:solidFill>
                  <a:srgbClr val="A9B4C2"/>
                </a:solidFill>
                <a:latin typeface="Arial"/>
              </a:rPr>
              <a:t>CPU, memory, temperature, free space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E1217"/>
        </a:solidFill>
      </p:bgPr>
    </p:bg>
    <p:spTree>
      <p:nvGrpSpPr>
        <p:cNvPr id="1" name=""/>
        <p:cNvGrpSpPr/>
        <p:nvPr/>
      </p:nvGrpSpPr>
      <p:grpSpPr bwMode="auto">
        <a:xfrm>
          <a:off x="0" y="0"/>
          <a:ext cx="0" cy="0"/>
          <a:chOff x="0" y="0"/>
          <a:chExt cx="0" cy="0"/>
        </a:xfrm>
      </p:grpSpPr>
      <p:sp>
        <p:nvSpPr>
          <p:cNvPr id="1049726865" name="TextBox 1"/>
          <p:cNvSpPr txBox="1"/>
          <p:nvPr/>
        </p:nvSpPr>
        <p:spPr bwMode="auto">
          <a:xfrm>
            <a:off x="457200" y="118872"/>
            <a:ext cx="8229600" cy="685800"/>
          </a:xfrm>
          <a:prstGeom prst="rect">
            <a:avLst/>
          </a:prstGeom>
          <a:noFill/>
        </p:spPr>
        <p:txBody>
          <a:bodyPr wrap="square" lIns="0" tIns="0" rIns="0" bIns="0" anchor="ctr">
            <a:spAutoFit/>
          </a:bodyPr>
          <a:lstStyle/>
          <a:p>
            <a:pPr algn="l">
              <a:defRPr/>
            </a:pPr>
            <a:r>
              <a:rPr sz="3600" b="1" i="0">
                <a:solidFill>
                  <a:srgbClr val="FFFFFF"/>
                </a:solidFill>
                <a:latin typeface="Arial"/>
              </a:rPr>
              <a:t>Setup: set once, forget</a:t>
            </a:r>
            <a:endParaRPr/>
          </a:p>
        </p:txBody>
      </p:sp>
      <p:sp>
        <p:nvSpPr>
          <p:cNvPr id="1686986738" name="TextBox 2"/>
          <p:cNvSpPr txBox="1"/>
          <p:nvPr/>
        </p:nvSpPr>
        <p:spPr bwMode="auto">
          <a:xfrm>
            <a:off x="457200" y="923544"/>
            <a:ext cx="8229600" cy="274320"/>
          </a:xfrm>
          <a:prstGeom prst="rect">
            <a:avLst/>
          </a:prstGeom>
          <a:noFill/>
        </p:spPr>
        <p:txBody>
          <a:bodyPr wrap="square" lIns="0" tIns="0" rIns="0" bIns="0" anchor="ctr">
            <a:spAutoFit/>
          </a:bodyPr>
          <a:lstStyle/>
          <a:p>
            <a:pPr algn="l">
              <a:defRPr/>
            </a:pPr>
            <a:r>
              <a:rPr sz="1100" b="1" i="0" spc="200">
                <a:solidFill>
                  <a:srgbClr val="76B900"/>
                </a:solidFill>
                <a:latin typeface="Arial"/>
              </a:rPr>
              <a:t>CALLSIGN  ·  OVERLAYS  ·  OPENTUNER  ·  USB</a:t>
            </a:r>
            <a:endParaRPr/>
          </a:p>
        </p:txBody>
      </p:sp>
      <p:sp>
        <p:nvSpPr>
          <p:cNvPr id="589532524" name="TextBox 3"/>
          <p:cNvSpPr txBox="1"/>
          <p:nvPr/>
        </p:nvSpPr>
        <p:spPr bwMode="auto">
          <a:xfrm>
            <a:off x="457200" y="1325880"/>
            <a:ext cx="8229600" cy="365760"/>
          </a:xfrm>
          <a:prstGeom prst="rect">
            <a:avLst/>
          </a:prstGeom>
          <a:noFill/>
        </p:spPr>
        <p:txBody>
          <a:bodyPr wrap="square" lIns="0" tIns="0" rIns="0" bIns="0" anchor="ctr">
            <a:spAutoFit/>
          </a:bodyPr>
          <a:lstStyle/>
          <a:p>
            <a:pPr algn="l">
              <a:defRPr/>
            </a:pPr>
            <a:r>
              <a:rPr sz="1600" b="0" i="1">
                <a:solidFill>
                  <a:srgbClr val="A9B4C2"/>
                </a:solidFill>
                <a:latin typeface="Arial"/>
              </a:rPr>
              <a:t>One page for everything that isn't per transmission.</a:t>
            </a:r>
            <a:endParaRPr/>
          </a:p>
        </p:txBody>
      </p:sp>
      <p:sp>
        <p:nvSpPr>
          <p:cNvPr id="1403657481" name="Oval 4"/>
          <p:cNvSpPr/>
          <p:nvPr/>
        </p:nvSpPr>
        <p:spPr bwMode="auto">
          <a:xfrm>
            <a:off x="457200" y="1938528"/>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387652925" name="Picture 5" descr="MdBadge.png"/>
          <p:cNvPicPr>
            <a:picLocks noChangeAspect="1"/>
          </p:cNvPicPr>
          <p:nvPr/>
        </p:nvPicPr>
        <p:blipFill rotWithShape="1">
          <a:blip r:embed="rId3"/>
          <a:stretch/>
        </p:blipFill>
        <p:spPr bwMode="auto">
          <a:xfrm>
            <a:off x="548640" y="2029968"/>
            <a:ext cx="182880" cy="182880"/>
          </a:xfrm>
          <a:prstGeom prst="rect">
            <a:avLst/>
          </a:prstGeom>
        </p:spPr>
      </p:pic>
      <p:sp>
        <p:nvSpPr>
          <p:cNvPr id="673049018" name="TextBox 6"/>
          <p:cNvSpPr txBox="1"/>
          <p:nvPr/>
        </p:nvSpPr>
        <p:spPr bwMode="auto">
          <a:xfrm>
            <a:off x="987552" y="1911096"/>
            <a:ext cx="4590288" cy="237744"/>
          </a:xfrm>
          <a:prstGeom prst="rect">
            <a:avLst/>
          </a:prstGeom>
          <a:noFill/>
        </p:spPr>
        <p:txBody>
          <a:bodyPr wrap="square" lIns="0" tIns="0" rIns="0" bIns="0" anchor="t">
            <a:spAutoFit/>
          </a:bodyPr>
          <a:lstStyle/>
          <a:p>
            <a:pPr algn="l">
              <a:defRPr/>
            </a:pPr>
            <a:r>
              <a:rPr sz="1250" b="1" i="0">
                <a:solidFill>
                  <a:srgbClr val="FFFFFF"/>
                </a:solidFill>
                <a:latin typeface="Arial"/>
              </a:rPr>
              <a:t>Callsign</a:t>
            </a:r>
            <a:endParaRPr/>
          </a:p>
        </p:txBody>
      </p:sp>
      <p:sp>
        <p:nvSpPr>
          <p:cNvPr id="446084011" name="TextBox 7"/>
          <p:cNvSpPr txBox="1"/>
          <p:nvPr/>
        </p:nvSpPr>
        <p:spPr bwMode="auto">
          <a:xfrm>
            <a:off x="987552" y="2157984"/>
            <a:ext cx="4590288" cy="457200"/>
          </a:xfrm>
          <a:prstGeom prst="rect">
            <a:avLst/>
          </a:prstGeom>
          <a:noFill/>
        </p:spPr>
        <p:txBody>
          <a:bodyPr wrap="square" lIns="0" tIns="0" rIns="0" bIns="0" anchor="t">
            <a:spAutoFit/>
          </a:bodyPr>
          <a:lstStyle/>
          <a:p>
            <a:pPr algn="l">
              <a:defRPr/>
            </a:pPr>
            <a:r>
              <a:rPr sz="1000" b="0" i="0">
                <a:solidFill>
                  <a:srgbClr val="A9B4C2"/>
                </a:solidFill>
                <a:latin typeface="Arial"/>
              </a:rPr>
              <a:t>Sent to the Pluto too, so both sides always agree</a:t>
            </a:r>
            <a:endParaRPr/>
          </a:p>
        </p:txBody>
      </p:sp>
      <p:sp>
        <p:nvSpPr>
          <p:cNvPr id="1511090857" name="Oval 8"/>
          <p:cNvSpPr/>
          <p:nvPr/>
        </p:nvSpPr>
        <p:spPr bwMode="auto">
          <a:xfrm>
            <a:off x="457200" y="2523744"/>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54672202" name="Picture 9" descr="MdTextFields.png"/>
          <p:cNvPicPr>
            <a:picLocks noChangeAspect="1"/>
          </p:cNvPicPr>
          <p:nvPr/>
        </p:nvPicPr>
        <p:blipFill rotWithShape="1">
          <a:blip r:embed="rId4"/>
          <a:stretch/>
        </p:blipFill>
        <p:spPr bwMode="auto">
          <a:xfrm>
            <a:off x="548640" y="2615184"/>
            <a:ext cx="182880" cy="182880"/>
          </a:xfrm>
          <a:prstGeom prst="rect">
            <a:avLst/>
          </a:prstGeom>
        </p:spPr>
      </p:pic>
      <p:sp>
        <p:nvSpPr>
          <p:cNvPr id="1909692863" name="TextBox 10"/>
          <p:cNvSpPr txBox="1"/>
          <p:nvPr/>
        </p:nvSpPr>
        <p:spPr bwMode="auto">
          <a:xfrm>
            <a:off x="987552" y="2496312"/>
            <a:ext cx="4590288" cy="237744"/>
          </a:xfrm>
          <a:prstGeom prst="rect">
            <a:avLst/>
          </a:prstGeom>
          <a:noFill/>
        </p:spPr>
        <p:txBody>
          <a:bodyPr wrap="square" lIns="0" tIns="0" rIns="0" bIns="0" anchor="t">
            <a:spAutoFit/>
          </a:bodyPr>
          <a:lstStyle/>
          <a:p>
            <a:pPr algn="l">
              <a:defRPr/>
            </a:pPr>
            <a:r>
              <a:rPr sz="1250" b="1" i="0">
                <a:solidFill>
                  <a:srgbClr val="FFFFFF"/>
                </a:solidFill>
                <a:latin typeface="Arial"/>
              </a:rPr>
              <a:t>Banners and marquee</a:t>
            </a:r>
            <a:endParaRPr/>
          </a:p>
        </p:txBody>
      </p:sp>
      <p:sp>
        <p:nvSpPr>
          <p:cNvPr id="2088775567" name="TextBox 11"/>
          <p:cNvSpPr txBox="1"/>
          <p:nvPr/>
        </p:nvSpPr>
        <p:spPr bwMode="auto">
          <a:xfrm>
            <a:off x="987552" y="2743200"/>
            <a:ext cx="4590288" cy="457200"/>
          </a:xfrm>
          <a:prstGeom prst="rect">
            <a:avLst/>
          </a:prstGeom>
          <a:noFill/>
        </p:spPr>
        <p:txBody>
          <a:bodyPr wrap="square" lIns="0" tIns="0" rIns="0" bIns="0" anchor="t">
            <a:spAutoFit/>
          </a:bodyPr>
          <a:lstStyle/>
          <a:p>
            <a:pPr algn="l">
              <a:defRPr/>
            </a:pPr>
            <a:r>
              <a:rPr sz="1000" b="0" i="0">
                <a:solidFill>
                  <a:srgbClr val="A9B4C2"/>
                </a:solidFill>
                <a:latin typeface="Arial"/>
              </a:rPr>
              <a:t>Your own text over Camera and Video</a:t>
            </a:r>
            <a:endParaRPr/>
          </a:p>
        </p:txBody>
      </p:sp>
      <p:sp>
        <p:nvSpPr>
          <p:cNvPr id="1286617519" name="Oval 12"/>
          <p:cNvSpPr/>
          <p:nvPr/>
        </p:nvSpPr>
        <p:spPr bwMode="auto">
          <a:xfrm>
            <a:off x="457200" y="3108960"/>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274405307" name="Picture 13" descr="MdTune.png"/>
          <p:cNvPicPr>
            <a:picLocks noChangeAspect="1"/>
          </p:cNvPicPr>
          <p:nvPr/>
        </p:nvPicPr>
        <p:blipFill rotWithShape="1">
          <a:blip r:embed="rId5"/>
          <a:stretch/>
        </p:blipFill>
        <p:spPr bwMode="auto">
          <a:xfrm>
            <a:off x="548640" y="3200400"/>
            <a:ext cx="182880" cy="182880"/>
          </a:xfrm>
          <a:prstGeom prst="rect">
            <a:avLst/>
          </a:prstGeom>
        </p:spPr>
      </p:pic>
      <p:sp>
        <p:nvSpPr>
          <p:cNvPr id="745958557" name="TextBox 14"/>
          <p:cNvSpPr txBox="1"/>
          <p:nvPr/>
        </p:nvSpPr>
        <p:spPr bwMode="auto">
          <a:xfrm>
            <a:off x="987552" y="3081528"/>
            <a:ext cx="4590288" cy="237744"/>
          </a:xfrm>
          <a:prstGeom prst="rect">
            <a:avLst/>
          </a:prstGeom>
          <a:noFill/>
        </p:spPr>
        <p:txBody>
          <a:bodyPr wrap="square" lIns="0" tIns="0" rIns="0" bIns="0" anchor="t">
            <a:spAutoFit/>
          </a:bodyPr>
          <a:lstStyle/>
          <a:p>
            <a:pPr algn="l">
              <a:defRPr/>
            </a:pPr>
            <a:r>
              <a:rPr sz="1250" b="1" i="0">
                <a:solidFill>
                  <a:srgbClr val="FFFFFF"/>
                </a:solidFill>
                <a:latin typeface="Arial"/>
              </a:rPr>
              <a:t>OpenTuner and corrections</a:t>
            </a:r>
            <a:endParaRPr/>
          </a:p>
        </p:txBody>
      </p:sp>
      <p:sp>
        <p:nvSpPr>
          <p:cNvPr id="1126520879" name="TextBox 15"/>
          <p:cNvSpPr txBox="1"/>
          <p:nvPr/>
        </p:nvSpPr>
        <p:spPr bwMode="auto">
          <a:xfrm>
            <a:off x="987552" y="3328416"/>
            <a:ext cx="4590288" cy="457200"/>
          </a:xfrm>
          <a:prstGeom prst="rect">
            <a:avLst/>
          </a:prstGeom>
          <a:noFill/>
        </p:spPr>
        <p:txBody>
          <a:bodyPr wrap="square" lIns="0" tIns="0" rIns="0" bIns="0" anchor="t">
            <a:spAutoFit/>
          </a:bodyPr>
          <a:lstStyle/>
          <a:p>
            <a:pPr algn="l">
              <a:defRPr/>
            </a:pPr>
            <a:r>
              <a:rPr sz="1000" b="0" i="0">
                <a:solidFill>
                  <a:srgbClr val="A9B4C2"/>
                </a:solidFill>
                <a:latin typeface="Arial"/>
              </a:rPr>
              <a:t>Auto-tune, LNB offset, RX and TX frequency correction</a:t>
            </a:r>
            <a:endParaRPr/>
          </a:p>
        </p:txBody>
      </p:sp>
      <p:sp>
        <p:nvSpPr>
          <p:cNvPr id="1272255282" name="Oval 16"/>
          <p:cNvSpPr/>
          <p:nvPr/>
        </p:nvSpPr>
        <p:spPr bwMode="auto">
          <a:xfrm>
            <a:off x="457200" y="3694176"/>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830039937" name="Picture 17" descr="MdUsb.png"/>
          <p:cNvPicPr>
            <a:picLocks noChangeAspect="1"/>
          </p:cNvPicPr>
          <p:nvPr/>
        </p:nvPicPr>
        <p:blipFill rotWithShape="1">
          <a:blip r:embed="rId6"/>
          <a:stretch/>
        </p:blipFill>
        <p:spPr bwMode="auto">
          <a:xfrm>
            <a:off x="548640" y="3785615"/>
            <a:ext cx="182880" cy="182880"/>
          </a:xfrm>
          <a:prstGeom prst="rect">
            <a:avLst/>
          </a:prstGeom>
        </p:spPr>
      </p:pic>
      <p:sp>
        <p:nvSpPr>
          <p:cNvPr id="1535891065" name="TextBox 18"/>
          <p:cNvSpPr txBox="1"/>
          <p:nvPr/>
        </p:nvSpPr>
        <p:spPr bwMode="auto">
          <a:xfrm>
            <a:off x="987552" y="3666744"/>
            <a:ext cx="4590288" cy="237744"/>
          </a:xfrm>
          <a:prstGeom prst="rect">
            <a:avLst/>
          </a:prstGeom>
          <a:noFill/>
        </p:spPr>
        <p:txBody>
          <a:bodyPr wrap="square" lIns="0" tIns="0" rIns="0" bIns="0" anchor="t">
            <a:spAutoFit/>
          </a:bodyPr>
          <a:lstStyle/>
          <a:p>
            <a:pPr algn="l">
              <a:defRPr/>
            </a:pPr>
            <a:r>
              <a:rPr sz="1250" b="1" i="0">
                <a:solidFill>
                  <a:srgbClr val="FFFFFF"/>
                </a:solidFill>
                <a:latin typeface="Arial"/>
              </a:rPr>
              <a:t>USB video key</a:t>
            </a:r>
            <a:endParaRPr/>
          </a:p>
        </p:txBody>
      </p:sp>
      <p:sp>
        <p:nvSpPr>
          <p:cNvPr id="112981017" name="TextBox 19"/>
          <p:cNvSpPr txBox="1"/>
          <p:nvPr/>
        </p:nvSpPr>
        <p:spPr bwMode="auto">
          <a:xfrm>
            <a:off x="987552" y="3913632"/>
            <a:ext cx="4590288" cy="457200"/>
          </a:xfrm>
          <a:prstGeom prst="rect">
            <a:avLst/>
          </a:prstGeom>
          <a:noFill/>
        </p:spPr>
        <p:txBody>
          <a:bodyPr wrap="square" lIns="0" tIns="0" rIns="0" bIns="0" anchor="t">
            <a:spAutoFit/>
          </a:bodyPr>
          <a:lstStyle/>
          <a:p>
            <a:pPr algn="l">
              <a:defRPr/>
            </a:pPr>
            <a:r>
              <a:rPr sz="1000" b="0" i="0">
                <a:solidFill>
                  <a:srgbClr val="A9B4C2"/>
                </a:solidFill>
                <a:latin typeface="Arial"/>
              </a:rPr>
              <a:t>Choose the drive that holds your prepared videos</a:t>
            </a:r>
            <a:endParaRPr/>
          </a:p>
        </p:txBody>
      </p:sp>
      <p:sp>
        <p:nvSpPr>
          <p:cNvPr id="1438575319" name="Oval 20"/>
          <p:cNvSpPr/>
          <p:nvPr/>
        </p:nvSpPr>
        <p:spPr bwMode="auto">
          <a:xfrm>
            <a:off x="457200" y="4279392"/>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2251417" name="Picture 21" descr="MdRestartAlt.png"/>
          <p:cNvPicPr>
            <a:picLocks noChangeAspect="1"/>
          </p:cNvPicPr>
          <p:nvPr/>
        </p:nvPicPr>
        <p:blipFill rotWithShape="1">
          <a:blip r:embed="rId7"/>
          <a:stretch/>
        </p:blipFill>
        <p:spPr bwMode="auto">
          <a:xfrm>
            <a:off x="548640" y="4370831"/>
            <a:ext cx="182880" cy="182880"/>
          </a:xfrm>
          <a:prstGeom prst="rect">
            <a:avLst/>
          </a:prstGeom>
        </p:spPr>
      </p:pic>
      <p:sp>
        <p:nvSpPr>
          <p:cNvPr id="1557172713" name="TextBox 22"/>
          <p:cNvSpPr txBox="1"/>
          <p:nvPr/>
        </p:nvSpPr>
        <p:spPr bwMode="auto">
          <a:xfrm>
            <a:off x="987552" y="4251959"/>
            <a:ext cx="4590288" cy="237744"/>
          </a:xfrm>
          <a:prstGeom prst="rect">
            <a:avLst/>
          </a:prstGeom>
          <a:noFill/>
        </p:spPr>
        <p:txBody>
          <a:bodyPr wrap="square" lIns="0" tIns="0" rIns="0" bIns="0" anchor="t">
            <a:spAutoFit/>
          </a:bodyPr>
          <a:lstStyle/>
          <a:p>
            <a:pPr algn="l">
              <a:defRPr/>
            </a:pPr>
            <a:r>
              <a:rPr sz="1250" b="1" i="0">
                <a:solidFill>
                  <a:srgbClr val="FFFFFF"/>
                </a:solidFill>
                <a:latin typeface="Arial"/>
              </a:rPr>
              <a:t>Restart app</a:t>
            </a:r>
            <a:endParaRPr/>
          </a:p>
        </p:txBody>
      </p:sp>
      <p:sp>
        <p:nvSpPr>
          <p:cNvPr id="645719648" name="TextBox 23"/>
          <p:cNvSpPr txBox="1"/>
          <p:nvPr/>
        </p:nvSpPr>
        <p:spPr bwMode="auto">
          <a:xfrm>
            <a:off x="987552" y="4498848"/>
            <a:ext cx="4590288" cy="457200"/>
          </a:xfrm>
          <a:prstGeom prst="rect">
            <a:avLst/>
          </a:prstGeom>
          <a:noFill/>
        </p:spPr>
        <p:txBody>
          <a:bodyPr wrap="square" lIns="0" tIns="0" rIns="0" bIns="0" anchor="t">
            <a:spAutoFit/>
          </a:bodyPr>
          <a:lstStyle/>
          <a:p>
            <a:pPr algn="l">
              <a:defRPr/>
            </a:pPr>
            <a:r>
              <a:rPr sz="1000" b="0" i="0">
                <a:solidFill>
                  <a:srgbClr val="A9B4C2"/>
                </a:solidFill>
                <a:latin typeface="Arial"/>
              </a:rPr>
              <a:t>Picks up updates in about five seconds</a:t>
            </a:r>
            <a:endParaRPr/>
          </a:p>
        </p:txBody>
      </p:sp>
      <p:sp>
        <p:nvSpPr>
          <p:cNvPr id="1275919109" name="Rounded Rectangle 24"/>
          <p:cNvSpPr/>
          <p:nvPr/>
        </p:nvSpPr>
        <p:spPr bwMode="auto">
          <a:xfrm>
            <a:off x="5852160" y="1874519"/>
            <a:ext cx="2834640" cy="2926080"/>
          </a:xfrm>
          <a:prstGeom prst="roundRect">
            <a:avLst>
              <a:gd name="adj" fmla="val 3870"/>
            </a:avLst>
          </a:prstGeom>
          <a:solidFill>
            <a:srgbClr val="1A2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370638889" name="Picture 25" descr="setup.png"/>
          <p:cNvPicPr>
            <a:picLocks noChangeAspect="1"/>
          </p:cNvPicPr>
          <p:nvPr/>
        </p:nvPicPr>
        <p:blipFill rotWithShape="1">
          <a:blip r:embed="rId8"/>
          <a:stretch/>
        </p:blipFill>
        <p:spPr bwMode="auto">
          <a:xfrm>
            <a:off x="6322405" y="1965960"/>
            <a:ext cx="1894148" cy="2743200"/>
          </a:xfrm>
          <a:prstGeom prst="rect">
            <a:avLst/>
          </a:prstGeom>
          <a:ln w="12700">
            <a:solidFill>
              <a:srgbClr val="2A3340"/>
            </a:solid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E1217"/>
        </a:solidFill>
      </p:bgPr>
    </p:bg>
    <p:spTree>
      <p:nvGrpSpPr>
        <p:cNvPr id="1" name=""/>
        <p:cNvGrpSpPr/>
        <p:nvPr/>
      </p:nvGrpSpPr>
      <p:grpSpPr bwMode="auto">
        <a:xfrm>
          <a:off x="0" y="0"/>
          <a:ext cx="0" cy="0"/>
          <a:chOff x="0" y="0"/>
          <a:chExt cx="0" cy="0"/>
        </a:xfrm>
      </p:grpSpPr>
      <p:sp>
        <p:nvSpPr>
          <p:cNvPr id="43458176" name="TextBox 1"/>
          <p:cNvSpPr txBox="1"/>
          <p:nvPr/>
        </p:nvSpPr>
        <p:spPr bwMode="auto">
          <a:xfrm>
            <a:off x="457200" y="118872"/>
            <a:ext cx="8229600" cy="685800"/>
          </a:xfrm>
          <a:prstGeom prst="rect">
            <a:avLst/>
          </a:prstGeom>
          <a:noFill/>
        </p:spPr>
        <p:txBody>
          <a:bodyPr wrap="square" lIns="0" tIns="0" rIns="0" bIns="0" anchor="ctr">
            <a:spAutoFit/>
          </a:bodyPr>
          <a:lstStyle/>
          <a:p>
            <a:pPr algn="l">
              <a:defRPr/>
            </a:pPr>
            <a:r>
              <a:rPr sz="3600" b="1" i="0">
                <a:solidFill>
                  <a:srgbClr val="FFFFFF"/>
                </a:solidFill>
                <a:latin typeface="Arial"/>
              </a:rPr>
              <a:t>Help is built in</a:t>
            </a:r>
            <a:endParaRPr/>
          </a:p>
        </p:txBody>
      </p:sp>
      <p:sp>
        <p:nvSpPr>
          <p:cNvPr id="1199997289" name="TextBox 2"/>
          <p:cNvSpPr txBox="1"/>
          <p:nvPr/>
        </p:nvSpPr>
        <p:spPr bwMode="auto">
          <a:xfrm>
            <a:off x="457200" y="923544"/>
            <a:ext cx="8229600" cy="274320"/>
          </a:xfrm>
          <a:prstGeom prst="rect">
            <a:avLst/>
          </a:prstGeom>
          <a:noFill/>
        </p:spPr>
        <p:txBody>
          <a:bodyPr wrap="square" lIns="0" tIns="0" rIns="0" bIns="0" anchor="ctr">
            <a:spAutoFit/>
          </a:bodyPr>
          <a:lstStyle/>
          <a:p>
            <a:pPr algn="l">
              <a:defRPr/>
            </a:pPr>
            <a:r>
              <a:rPr sz="1100" b="1" i="0" spc="200">
                <a:solidFill>
                  <a:srgbClr val="76B900"/>
                </a:solidFill>
                <a:latin typeface="Arial"/>
              </a:rPr>
              <a:t>QUICK START  ·  WIRING  ·  TROUBLESHOOTING</a:t>
            </a:r>
            <a:endParaRPr/>
          </a:p>
        </p:txBody>
      </p:sp>
      <p:sp>
        <p:nvSpPr>
          <p:cNvPr id="913127907" name="TextBox 3"/>
          <p:cNvSpPr txBox="1"/>
          <p:nvPr/>
        </p:nvSpPr>
        <p:spPr bwMode="auto">
          <a:xfrm>
            <a:off x="457200" y="1325880"/>
            <a:ext cx="8229600" cy="365760"/>
          </a:xfrm>
          <a:prstGeom prst="rect">
            <a:avLst/>
          </a:prstGeom>
          <a:noFill/>
        </p:spPr>
        <p:txBody>
          <a:bodyPr wrap="square" lIns="0" tIns="0" rIns="0" bIns="0" anchor="ctr">
            <a:spAutoFit/>
          </a:bodyPr>
          <a:lstStyle/>
          <a:p>
            <a:pPr algn="l">
              <a:defRPr/>
            </a:pPr>
            <a:r>
              <a:rPr sz="1600" b="0" i="1">
                <a:solidFill>
                  <a:srgbClr val="A9B4C2"/>
                </a:solidFill>
                <a:latin typeface="Arial"/>
              </a:rPr>
              <a:t>No manual to hunt for: it ships with the app.</a:t>
            </a:r>
            <a:endParaRPr/>
          </a:p>
        </p:txBody>
      </p:sp>
      <p:sp>
        <p:nvSpPr>
          <p:cNvPr id="627098802" name="Rounded Rectangle 4"/>
          <p:cNvSpPr/>
          <p:nvPr/>
        </p:nvSpPr>
        <p:spPr bwMode="auto">
          <a:xfrm>
            <a:off x="457200" y="1874519"/>
            <a:ext cx="2194560" cy="2926080"/>
          </a:xfrm>
          <a:prstGeom prst="roundRect">
            <a:avLst>
              <a:gd name="adj" fmla="val 5000"/>
            </a:avLst>
          </a:prstGeom>
          <a:solidFill>
            <a:srgbClr val="1A2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663745779" name="Picture 5" descr="help.png"/>
          <p:cNvPicPr>
            <a:picLocks noChangeAspect="1"/>
          </p:cNvPicPr>
          <p:nvPr/>
        </p:nvPicPr>
        <p:blipFill rotWithShape="1">
          <a:blip r:embed="rId3"/>
          <a:stretch/>
        </p:blipFill>
        <p:spPr bwMode="auto">
          <a:xfrm>
            <a:off x="729767" y="1965960"/>
            <a:ext cx="1649425" cy="2743200"/>
          </a:xfrm>
          <a:prstGeom prst="rect">
            <a:avLst/>
          </a:prstGeom>
          <a:ln w="12700">
            <a:solidFill>
              <a:srgbClr val="2A3340"/>
            </a:solidFill>
          </a:ln>
        </p:spPr>
      </p:pic>
      <p:sp>
        <p:nvSpPr>
          <p:cNvPr id="1409264974" name="Rounded Rectangle 6"/>
          <p:cNvSpPr/>
          <p:nvPr/>
        </p:nvSpPr>
        <p:spPr bwMode="auto">
          <a:xfrm>
            <a:off x="2926080" y="1874519"/>
            <a:ext cx="2766060" cy="914400"/>
          </a:xfrm>
          <a:prstGeom prst="roundRect">
            <a:avLst>
              <a:gd name="adj" fmla="val 12000"/>
            </a:avLst>
          </a:prstGeom>
          <a:solidFill>
            <a:srgbClr val="1A2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49294107" name="Oval 7"/>
          <p:cNvSpPr/>
          <p:nvPr/>
        </p:nvSpPr>
        <p:spPr bwMode="auto">
          <a:xfrm>
            <a:off x="3090672" y="2039112"/>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859776953" name="Picture 8" descr="MdSettingsInputAntenna.png"/>
          <p:cNvPicPr>
            <a:picLocks noChangeAspect="1"/>
          </p:cNvPicPr>
          <p:nvPr/>
        </p:nvPicPr>
        <p:blipFill rotWithShape="1">
          <a:blip r:embed="rId4"/>
          <a:stretch/>
        </p:blipFill>
        <p:spPr bwMode="auto">
          <a:xfrm>
            <a:off x="3182112" y="2130552"/>
            <a:ext cx="182880" cy="182880"/>
          </a:xfrm>
          <a:prstGeom prst="rect">
            <a:avLst/>
          </a:prstGeom>
        </p:spPr>
      </p:pic>
      <p:sp>
        <p:nvSpPr>
          <p:cNvPr id="726956706" name="TextBox 9"/>
          <p:cNvSpPr txBox="1"/>
          <p:nvPr/>
        </p:nvSpPr>
        <p:spPr bwMode="auto">
          <a:xfrm>
            <a:off x="3584448" y="2039112"/>
            <a:ext cx="1988819" cy="365760"/>
          </a:xfrm>
          <a:prstGeom prst="rect">
            <a:avLst/>
          </a:prstGeom>
          <a:noFill/>
        </p:spPr>
        <p:txBody>
          <a:bodyPr wrap="square" lIns="0" tIns="0" rIns="0" bIns="0" anchor="ctr">
            <a:spAutoFit/>
          </a:bodyPr>
          <a:lstStyle/>
          <a:p>
            <a:pPr algn="l">
              <a:defRPr/>
            </a:pPr>
            <a:r>
              <a:rPr sz="1250" b="1" i="0">
                <a:solidFill>
                  <a:srgbClr val="FFFFFF"/>
                </a:solidFill>
                <a:latin typeface="Arial"/>
              </a:rPr>
              <a:t>Before you start</a:t>
            </a:r>
            <a:endParaRPr/>
          </a:p>
        </p:txBody>
      </p:sp>
      <p:sp>
        <p:nvSpPr>
          <p:cNvPr id="231970547" name="TextBox 10"/>
          <p:cNvSpPr txBox="1"/>
          <p:nvPr/>
        </p:nvSpPr>
        <p:spPr bwMode="auto">
          <a:xfrm>
            <a:off x="3090672" y="2459735"/>
            <a:ext cx="2491740" cy="292608"/>
          </a:xfrm>
          <a:prstGeom prst="rect">
            <a:avLst/>
          </a:prstGeom>
          <a:noFill/>
        </p:spPr>
        <p:txBody>
          <a:bodyPr wrap="square" lIns="0" tIns="0" rIns="0" bIns="0" anchor="t">
            <a:spAutoFit/>
          </a:bodyPr>
          <a:lstStyle/>
          <a:p>
            <a:pPr algn="l">
              <a:defRPr/>
            </a:pPr>
            <a:r>
              <a:rPr sz="1000" b="0" i="0">
                <a:solidFill>
                  <a:srgbClr val="A9B4C2"/>
                </a:solidFill>
                <a:latin typeface="Arial"/>
              </a:rPr>
              <a:t>Firmware, antenna, PA, receiver, licence</a:t>
            </a:r>
            <a:endParaRPr/>
          </a:p>
        </p:txBody>
      </p:sp>
      <p:sp>
        <p:nvSpPr>
          <p:cNvPr id="2044180460" name="Rounded Rectangle 11"/>
          <p:cNvSpPr/>
          <p:nvPr/>
        </p:nvSpPr>
        <p:spPr bwMode="auto">
          <a:xfrm>
            <a:off x="5920740" y="1874519"/>
            <a:ext cx="2766060" cy="914400"/>
          </a:xfrm>
          <a:prstGeom prst="roundRect">
            <a:avLst>
              <a:gd name="adj" fmla="val 12000"/>
            </a:avLst>
          </a:prstGeom>
          <a:solidFill>
            <a:srgbClr val="1A2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1685344" name="Oval 12"/>
          <p:cNvSpPr/>
          <p:nvPr/>
        </p:nvSpPr>
        <p:spPr bwMode="auto">
          <a:xfrm>
            <a:off x="6085331" y="2039112"/>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2108619223" name="Picture 13" descr="MdCable.png"/>
          <p:cNvPicPr>
            <a:picLocks noChangeAspect="1"/>
          </p:cNvPicPr>
          <p:nvPr/>
        </p:nvPicPr>
        <p:blipFill rotWithShape="1">
          <a:blip r:embed="rId5"/>
          <a:stretch/>
        </p:blipFill>
        <p:spPr bwMode="auto">
          <a:xfrm>
            <a:off x="6176771" y="2130552"/>
            <a:ext cx="182880" cy="182880"/>
          </a:xfrm>
          <a:prstGeom prst="rect">
            <a:avLst/>
          </a:prstGeom>
        </p:spPr>
      </p:pic>
      <p:sp>
        <p:nvSpPr>
          <p:cNvPr id="1613352690" name="TextBox 14"/>
          <p:cNvSpPr txBox="1"/>
          <p:nvPr/>
        </p:nvSpPr>
        <p:spPr bwMode="auto">
          <a:xfrm>
            <a:off x="6579107" y="2039112"/>
            <a:ext cx="1988819" cy="365760"/>
          </a:xfrm>
          <a:prstGeom prst="rect">
            <a:avLst/>
          </a:prstGeom>
          <a:noFill/>
        </p:spPr>
        <p:txBody>
          <a:bodyPr wrap="square" lIns="0" tIns="0" rIns="0" bIns="0" anchor="ctr">
            <a:spAutoFit/>
          </a:bodyPr>
          <a:lstStyle/>
          <a:p>
            <a:pPr algn="l">
              <a:defRPr/>
            </a:pPr>
            <a:r>
              <a:rPr sz="1250" b="1" i="0">
                <a:solidFill>
                  <a:srgbClr val="FFFFFF"/>
                </a:solidFill>
                <a:latin typeface="Arial"/>
              </a:rPr>
              <a:t>PTT relay wiring</a:t>
            </a:r>
            <a:endParaRPr/>
          </a:p>
        </p:txBody>
      </p:sp>
      <p:sp>
        <p:nvSpPr>
          <p:cNvPr id="283066275" name="TextBox 15"/>
          <p:cNvSpPr txBox="1"/>
          <p:nvPr/>
        </p:nvSpPr>
        <p:spPr bwMode="auto">
          <a:xfrm>
            <a:off x="6085331" y="2459735"/>
            <a:ext cx="2491740" cy="292608"/>
          </a:xfrm>
          <a:prstGeom prst="rect">
            <a:avLst/>
          </a:prstGeom>
          <a:noFill/>
        </p:spPr>
        <p:txBody>
          <a:bodyPr wrap="square" lIns="0" tIns="0" rIns="0" bIns="0" anchor="t">
            <a:spAutoFit/>
          </a:bodyPr>
          <a:lstStyle/>
          <a:p>
            <a:pPr algn="l">
              <a:defRPr/>
            </a:pPr>
            <a:r>
              <a:rPr sz="1000" b="0" i="0">
                <a:solidFill>
                  <a:srgbClr val="A9B4C2"/>
                </a:solidFill>
                <a:latin typeface="Arial"/>
              </a:rPr>
              <a:t>Physical pin 18, 3.3 V logic relay module</a:t>
            </a:r>
            <a:endParaRPr/>
          </a:p>
        </p:txBody>
      </p:sp>
      <p:sp>
        <p:nvSpPr>
          <p:cNvPr id="602780179" name="Rounded Rectangle 16"/>
          <p:cNvSpPr/>
          <p:nvPr/>
        </p:nvSpPr>
        <p:spPr bwMode="auto">
          <a:xfrm>
            <a:off x="2926080" y="2971800"/>
            <a:ext cx="2766060" cy="914400"/>
          </a:xfrm>
          <a:prstGeom prst="roundRect">
            <a:avLst>
              <a:gd name="adj" fmla="val 12000"/>
            </a:avLst>
          </a:prstGeom>
          <a:solidFill>
            <a:srgbClr val="1A2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6714034" name="Oval 17"/>
          <p:cNvSpPr/>
          <p:nvPr/>
        </p:nvSpPr>
        <p:spPr bwMode="auto">
          <a:xfrm>
            <a:off x="3090672" y="3136392"/>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842645268" name="Picture 18" descr="MdLan.png"/>
          <p:cNvPicPr>
            <a:picLocks noChangeAspect="1"/>
          </p:cNvPicPr>
          <p:nvPr/>
        </p:nvPicPr>
        <p:blipFill rotWithShape="1">
          <a:blip r:embed="rId6"/>
          <a:stretch/>
        </p:blipFill>
        <p:spPr bwMode="auto">
          <a:xfrm>
            <a:off x="3182112" y="3227832"/>
            <a:ext cx="182880" cy="182880"/>
          </a:xfrm>
          <a:prstGeom prst="rect">
            <a:avLst/>
          </a:prstGeom>
        </p:spPr>
      </p:pic>
      <p:sp>
        <p:nvSpPr>
          <p:cNvPr id="723089688" name="TextBox 19"/>
          <p:cNvSpPr txBox="1"/>
          <p:nvPr/>
        </p:nvSpPr>
        <p:spPr bwMode="auto">
          <a:xfrm>
            <a:off x="3584448" y="3136392"/>
            <a:ext cx="1988819" cy="365760"/>
          </a:xfrm>
          <a:prstGeom prst="rect">
            <a:avLst/>
          </a:prstGeom>
          <a:noFill/>
        </p:spPr>
        <p:txBody>
          <a:bodyPr wrap="square" lIns="0" tIns="0" rIns="0" bIns="0" anchor="ctr">
            <a:spAutoFit/>
          </a:bodyPr>
          <a:lstStyle/>
          <a:p>
            <a:pPr algn="l">
              <a:defRPr/>
            </a:pPr>
            <a:r>
              <a:rPr sz="1250" b="1" i="0">
                <a:solidFill>
                  <a:srgbClr val="FFFFFF"/>
                </a:solidFill>
                <a:latin typeface="Arial"/>
              </a:rPr>
              <a:t>OpenTuner setup</a:t>
            </a:r>
            <a:endParaRPr/>
          </a:p>
        </p:txBody>
      </p:sp>
      <p:sp>
        <p:nvSpPr>
          <p:cNvPr id="2084620514" name="TextBox 20"/>
          <p:cNvSpPr txBox="1"/>
          <p:nvPr/>
        </p:nvSpPr>
        <p:spPr bwMode="auto">
          <a:xfrm>
            <a:off x="3090672" y="3557016"/>
            <a:ext cx="2491740" cy="292608"/>
          </a:xfrm>
          <a:prstGeom prst="rect">
            <a:avLst/>
          </a:prstGeom>
          <a:noFill/>
        </p:spPr>
        <p:txBody>
          <a:bodyPr wrap="square" lIns="0" tIns="0" rIns="0" bIns="0" anchor="t">
            <a:spAutoFit/>
          </a:bodyPr>
          <a:lstStyle/>
          <a:p>
            <a:pPr algn="l">
              <a:defRPr/>
            </a:pPr>
            <a:r>
              <a:rPr sz="1000" b="0" i="0">
                <a:solidFill>
                  <a:srgbClr val="A9B4C2"/>
                </a:solidFill>
                <a:latin typeface="Arial"/>
              </a:rPr>
              <a:t>Quick Tune, Jetson Stream, beacon test</a:t>
            </a:r>
            <a:endParaRPr/>
          </a:p>
        </p:txBody>
      </p:sp>
      <p:sp>
        <p:nvSpPr>
          <p:cNvPr id="320850247" name="Rounded Rectangle 21"/>
          <p:cNvSpPr/>
          <p:nvPr/>
        </p:nvSpPr>
        <p:spPr bwMode="auto">
          <a:xfrm>
            <a:off x="5920740" y="2971800"/>
            <a:ext cx="2766060" cy="914400"/>
          </a:xfrm>
          <a:prstGeom prst="roundRect">
            <a:avLst>
              <a:gd name="adj" fmla="val 12000"/>
            </a:avLst>
          </a:prstGeom>
          <a:solidFill>
            <a:srgbClr val="1A2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67831464" name="Oval 22"/>
          <p:cNvSpPr/>
          <p:nvPr/>
        </p:nvSpPr>
        <p:spPr bwMode="auto">
          <a:xfrm>
            <a:off x="6085331" y="3136392"/>
            <a:ext cx="365760" cy="36576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543055977" name="Picture 23" descr="MdHelpOutline.png"/>
          <p:cNvPicPr>
            <a:picLocks noChangeAspect="1"/>
          </p:cNvPicPr>
          <p:nvPr/>
        </p:nvPicPr>
        <p:blipFill rotWithShape="1">
          <a:blip r:embed="rId7"/>
          <a:stretch/>
        </p:blipFill>
        <p:spPr bwMode="auto">
          <a:xfrm>
            <a:off x="6176771" y="3227832"/>
            <a:ext cx="182880" cy="182880"/>
          </a:xfrm>
          <a:prstGeom prst="rect">
            <a:avLst/>
          </a:prstGeom>
        </p:spPr>
      </p:pic>
      <p:sp>
        <p:nvSpPr>
          <p:cNvPr id="679175484" name="TextBox 24"/>
          <p:cNvSpPr txBox="1"/>
          <p:nvPr/>
        </p:nvSpPr>
        <p:spPr bwMode="auto">
          <a:xfrm>
            <a:off x="6579107" y="3136392"/>
            <a:ext cx="1988819" cy="365760"/>
          </a:xfrm>
          <a:prstGeom prst="rect">
            <a:avLst/>
          </a:prstGeom>
          <a:noFill/>
        </p:spPr>
        <p:txBody>
          <a:bodyPr wrap="square" lIns="0" tIns="0" rIns="0" bIns="0" anchor="ctr">
            <a:spAutoFit/>
          </a:bodyPr>
          <a:lstStyle/>
          <a:p>
            <a:pPr algn="l">
              <a:defRPr/>
            </a:pPr>
            <a:r>
              <a:rPr sz="1250" b="1" i="0">
                <a:solidFill>
                  <a:srgbClr val="FFFFFF"/>
                </a:solidFill>
                <a:latin typeface="Arial"/>
              </a:rPr>
              <a:t>Troubleshooting</a:t>
            </a:r>
            <a:endParaRPr/>
          </a:p>
        </p:txBody>
      </p:sp>
      <p:sp>
        <p:nvSpPr>
          <p:cNvPr id="887648884" name="TextBox 25"/>
          <p:cNvSpPr txBox="1"/>
          <p:nvPr/>
        </p:nvSpPr>
        <p:spPr bwMode="auto">
          <a:xfrm>
            <a:off x="6085331" y="3557016"/>
            <a:ext cx="2491740" cy="292608"/>
          </a:xfrm>
          <a:prstGeom prst="rect">
            <a:avLst/>
          </a:prstGeom>
          <a:noFill/>
        </p:spPr>
        <p:txBody>
          <a:bodyPr wrap="square" lIns="0" tIns="0" rIns="0" bIns="0" anchor="t">
            <a:spAutoFit/>
          </a:bodyPr>
          <a:lstStyle/>
          <a:p>
            <a:pPr algn="l">
              <a:defRPr/>
            </a:pPr>
            <a:r>
              <a:rPr sz="1000" b="0" i="0">
                <a:solidFill>
                  <a:srgbClr val="A9B4C2"/>
                </a:solidFill>
                <a:latin typeface="Arial"/>
              </a:rPr>
              <a:t>Every status message explained</a:t>
            </a:r>
            <a:endParaRPr/>
          </a:p>
        </p:txBody>
      </p:sp>
      <p:sp>
        <p:nvSpPr>
          <p:cNvPr id="601627606" name="Rounded Rectangle 26"/>
          <p:cNvSpPr/>
          <p:nvPr/>
        </p:nvSpPr>
        <p:spPr bwMode="auto">
          <a:xfrm>
            <a:off x="2926080" y="4069079"/>
            <a:ext cx="5760720" cy="731520"/>
          </a:xfrm>
          <a:prstGeom prst="roundRect">
            <a:avLst>
              <a:gd name="adj" fmla="val 14999"/>
            </a:avLst>
          </a:prstGeom>
          <a:solidFill>
            <a:srgbClr val="1A2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26849265" name="Oval 27"/>
          <p:cNvSpPr/>
          <p:nvPr/>
        </p:nvSpPr>
        <p:spPr bwMode="auto">
          <a:xfrm>
            <a:off x="3090672" y="4197095"/>
            <a:ext cx="365760" cy="365760"/>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942088269" name="Picture 28" descr="MdWarningAmber.png"/>
          <p:cNvPicPr>
            <a:picLocks noChangeAspect="1"/>
          </p:cNvPicPr>
          <p:nvPr/>
        </p:nvPicPr>
        <p:blipFill rotWithShape="1">
          <a:blip r:embed="rId8"/>
          <a:stretch/>
        </p:blipFill>
        <p:spPr bwMode="auto">
          <a:xfrm>
            <a:off x="3182112" y="4288535"/>
            <a:ext cx="182880" cy="182880"/>
          </a:xfrm>
          <a:prstGeom prst="rect">
            <a:avLst/>
          </a:prstGeom>
        </p:spPr>
      </p:pic>
      <p:sp>
        <p:nvSpPr>
          <p:cNvPr id="1376893522" name="TextBox 29"/>
          <p:cNvSpPr txBox="1"/>
          <p:nvPr/>
        </p:nvSpPr>
        <p:spPr bwMode="auto">
          <a:xfrm>
            <a:off x="3584448" y="4160519"/>
            <a:ext cx="4937759" cy="228600"/>
          </a:xfrm>
          <a:prstGeom prst="rect">
            <a:avLst/>
          </a:prstGeom>
          <a:noFill/>
        </p:spPr>
        <p:txBody>
          <a:bodyPr wrap="square" lIns="0" tIns="0" rIns="0" bIns="0" anchor="t">
            <a:spAutoFit/>
          </a:bodyPr>
          <a:lstStyle/>
          <a:p>
            <a:pPr algn="l">
              <a:defRPr/>
            </a:pPr>
            <a:r>
              <a:rPr sz="1250" b="1" i="0">
                <a:solidFill>
                  <a:srgbClr val="FFFFFF"/>
                </a:solidFill>
                <a:latin typeface="Arial"/>
              </a:rPr>
              <a:t>On QO-100</a:t>
            </a:r>
            <a:endParaRPr/>
          </a:p>
        </p:txBody>
      </p:sp>
      <p:sp>
        <p:nvSpPr>
          <p:cNvPr id="1661623071" name="TextBox 30"/>
          <p:cNvSpPr txBox="1"/>
          <p:nvPr/>
        </p:nvSpPr>
        <p:spPr bwMode="auto">
          <a:xfrm>
            <a:off x="3584448" y="4398264"/>
            <a:ext cx="4937759" cy="228600"/>
          </a:xfrm>
          <a:prstGeom prst="rect">
            <a:avLst/>
          </a:prstGeom>
          <a:noFill/>
        </p:spPr>
        <p:txBody>
          <a:bodyPr wrap="square" lIns="0" tIns="0" rIns="0" bIns="0" anchor="t">
            <a:spAutoFit/>
          </a:bodyPr>
          <a:lstStyle/>
          <a:p>
            <a:pPr algn="l">
              <a:defRPr/>
            </a:pPr>
            <a:r>
              <a:rPr sz="1050" b="0" i="0">
                <a:solidFill>
                  <a:srgbClr val="A9B4C2"/>
                </a:solidFill>
                <a:latin typeface="Arial"/>
              </a:rPr>
              <a:t>Free channel only  ·  stay below the beacon  ·  keep tests short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E1217"/>
        </a:solidFill>
      </p:bgPr>
    </p:bg>
    <p:spTree>
      <p:nvGrpSpPr>
        <p:cNvPr id="1" name=""/>
        <p:cNvGrpSpPr/>
        <p:nvPr/>
      </p:nvGrpSpPr>
      <p:grpSpPr bwMode="auto">
        <a:xfrm>
          <a:off x="0" y="0"/>
          <a:ext cx="0" cy="0"/>
          <a:chOff x="0" y="0"/>
          <a:chExt cx="0" cy="0"/>
        </a:xfrm>
      </p:grpSpPr>
      <p:sp>
        <p:nvSpPr>
          <p:cNvPr id="618913148" name="Text 0"/>
          <p:cNvSpPr txBox="1"/>
          <p:nvPr/>
        </p:nvSpPr>
        <p:spPr bwMode="auto">
          <a:xfrm>
            <a:off x="457200" y="118872"/>
            <a:ext cx="8229600" cy="685800"/>
          </a:xfrm>
          <a:prstGeom prst="rect">
            <a:avLst/>
          </a:prstGeom>
          <a:noFill/>
          <a:ln/>
        </p:spPr>
        <p:txBody>
          <a:bodyPr wrap="square" lIns="0" tIns="0" rIns="0" bIns="0" rtlCol="0" anchor="ctr"/>
          <a:lstStyle/>
          <a:p>
            <a:pPr marL="0" indent="0">
              <a:buNone/>
              <a:defRPr/>
            </a:pPr>
            <a:r>
              <a:rPr lang="en-US" sz="3600" b="1">
                <a:solidFill>
                  <a:srgbClr val="FFFFFF"/>
                </a:solidFill>
                <a:latin typeface="Arial"/>
                <a:ea typeface="Arial"/>
                <a:cs typeface="Arial"/>
              </a:rPr>
              <a:t>Get the SD card image</a:t>
            </a:r>
            <a:endParaRPr lang="en-US" sz="3600"/>
          </a:p>
        </p:txBody>
      </p:sp>
      <p:sp>
        <p:nvSpPr>
          <p:cNvPr id="999633509" name="Text 1"/>
          <p:cNvSpPr txBox="1"/>
          <p:nvPr/>
        </p:nvSpPr>
        <p:spPr bwMode="auto">
          <a:xfrm>
            <a:off x="457200" y="923544"/>
            <a:ext cx="6858000" cy="274320"/>
          </a:xfrm>
          <a:prstGeom prst="rect">
            <a:avLst/>
          </a:prstGeom>
          <a:noFill/>
          <a:ln/>
        </p:spPr>
        <p:txBody>
          <a:bodyPr wrap="square" lIns="0" tIns="0" rIns="0" bIns="0" rtlCol="0" anchor="ctr"/>
          <a:lstStyle/>
          <a:p>
            <a:pPr marL="0" indent="0">
              <a:buNone/>
              <a:defRPr/>
            </a:pPr>
            <a:r>
              <a:rPr lang="en-US" sz="1100" b="1" spc="200">
                <a:solidFill>
                  <a:srgbClr val="76B900"/>
                </a:solidFill>
                <a:latin typeface="Arial"/>
                <a:ea typeface="Arial"/>
                <a:cs typeface="Arial"/>
              </a:rPr>
              <a:t>FREE DOWNLOAD  ·  RASPBERRY PI IMAGER  ·  32 GB CARD</a:t>
            </a:r>
            <a:endParaRPr lang="en-US" sz="1100"/>
          </a:p>
        </p:txBody>
      </p:sp>
      <p:sp>
        <p:nvSpPr>
          <p:cNvPr id="1966815162" name="Text 2"/>
          <p:cNvSpPr txBox="1"/>
          <p:nvPr/>
        </p:nvSpPr>
        <p:spPr bwMode="auto">
          <a:xfrm>
            <a:off x="457200" y="1325880"/>
            <a:ext cx="8229600" cy="365760"/>
          </a:xfrm>
          <a:prstGeom prst="rect">
            <a:avLst/>
          </a:prstGeom>
          <a:noFill/>
          <a:ln/>
        </p:spPr>
        <p:txBody>
          <a:bodyPr wrap="square" lIns="0" tIns="0" rIns="0" bIns="0" rtlCol="0" anchor="ctr"/>
          <a:lstStyle/>
          <a:p>
            <a:pPr marL="0" indent="0">
              <a:buNone/>
              <a:defRPr/>
            </a:pPr>
            <a:r>
              <a:rPr lang="en-US" sz="1600" i="1">
                <a:solidFill>
                  <a:srgbClr val="A9B4C2"/>
                </a:solidFill>
                <a:latin typeface="Arial"/>
                <a:ea typeface="Arial"/>
                <a:cs typeface="Arial"/>
              </a:rPr>
              <a:t>Scan the code, flash the card, boot the Jetson.</a:t>
            </a:r>
            <a:endParaRPr lang="en-US" sz="1600"/>
          </a:p>
        </p:txBody>
      </p:sp>
      <p:sp>
        <p:nvSpPr>
          <p:cNvPr id="998574496" name="Shape 3"/>
          <p:cNvSpPr/>
          <p:nvPr/>
        </p:nvSpPr>
        <p:spPr bwMode="auto">
          <a:xfrm>
            <a:off x="457200" y="2011680"/>
            <a:ext cx="475488" cy="475488"/>
          </a:xfrm>
          <a:prstGeom prst="ellipse">
            <a:avLst/>
          </a:prstGeom>
          <a:solidFill>
            <a:srgbClr val="76B900"/>
          </a:solidFill>
          <a:ln w="12700">
            <a:solidFill>
              <a:srgbClr val="76B900"/>
            </a:solidFill>
            <a:prstDash val="solid"/>
          </a:ln>
        </p:spPr>
        <p:txBody>
          <a:bodyPr/>
          <a:p>
            <a:pPr>
              <a:defRPr/>
            </a:pPr>
            <a:endParaRPr/>
          </a:p>
        </p:txBody>
      </p:sp>
      <p:pic>
        <p:nvPicPr>
          <p:cNvPr id="958030421" name="Image 0" descr="preencoded.png"/>
          <p:cNvPicPr>
            <a:picLocks noChangeAspect="1"/>
          </p:cNvPicPr>
          <p:nvPr/>
        </p:nvPicPr>
        <p:blipFill rotWithShape="1">
          <a:blip r:embed="rId3"/>
          <a:stretch/>
        </p:blipFill>
        <p:spPr bwMode="auto">
          <a:xfrm>
            <a:off x="576072" y="2130552"/>
            <a:ext cx="237744" cy="237744"/>
          </a:xfrm>
          <a:prstGeom prst="rect">
            <a:avLst/>
          </a:prstGeom>
        </p:spPr>
      </p:pic>
      <p:sp>
        <p:nvSpPr>
          <p:cNvPr id="1047603837" name="Text 4"/>
          <p:cNvSpPr txBox="1"/>
          <p:nvPr/>
        </p:nvSpPr>
        <p:spPr bwMode="auto">
          <a:xfrm>
            <a:off x="1115568" y="1975104"/>
            <a:ext cx="4297680" cy="292608"/>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Download the image</a:t>
            </a:r>
            <a:endParaRPr lang="en-US" sz="1500"/>
          </a:p>
        </p:txBody>
      </p:sp>
      <p:sp>
        <p:nvSpPr>
          <p:cNvPr id="276012869" name="Text 5"/>
          <p:cNvSpPr txBox="1"/>
          <p:nvPr/>
        </p:nvSpPr>
        <p:spPr bwMode="auto">
          <a:xfrm>
            <a:off x="1115568" y="2267712"/>
            <a:ext cx="4297680" cy="256032"/>
          </a:xfrm>
          <a:prstGeom prst="rect">
            <a:avLst/>
          </a:prstGeom>
          <a:noFill/>
          <a:ln/>
        </p:spPr>
        <p:txBody>
          <a:bodyPr wrap="square" lIns="0" tIns="0" rIns="0" bIns="0" rtlCol="0" anchor="ctr"/>
          <a:lstStyle/>
          <a:p>
            <a:pPr marL="0" indent="0">
              <a:buNone/>
              <a:defRPr/>
            </a:pPr>
            <a:r>
              <a:rPr lang="en-US" sz="1150">
                <a:solidFill>
                  <a:srgbClr val="A9B4C2"/>
                </a:solidFill>
                <a:latin typeface="Arial"/>
                <a:ea typeface="Arial"/>
                <a:cs typeface="Arial"/>
              </a:rPr>
              <a:t>Latest jetson.img.xz linked on GitHub, about 5 GB</a:t>
            </a:r>
            <a:endParaRPr lang="en-US" sz="1150"/>
          </a:p>
        </p:txBody>
      </p:sp>
      <p:sp>
        <p:nvSpPr>
          <p:cNvPr id="2089349272" name="Shape 6"/>
          <p:cNvSpPr/>
          <p:nvPr/>
        </p:nvSpPr>
        <p:spPr bwMode="auto">
          <a:xfrm>
            <a:off x="457200" y="2724911"/>
            <a:ext cx="475488" cy="475488"/>
          </a:xfrm>
          <a:prstGeom prst="ellipse">
            <a:avLst/>
          </a:prstGeom>
          <a:solidFill>
            <a:srgbClr val="76B900"/>
          </a:solidFill>
          <a:ln w="12700">
            <a:solidFill>
              <a:srgbClr val="76B900"/>
            </a:solidFill>
            <a:prstDash val="solid"/>
          </a:ln>
        </p:spPr>
        <p:txBody>
          <a:bodyPr/>
          <a:p>
            <a:pPr>
              <a:defRPr/>
            </a:pPr>
            <a:endParaRPr/>
          </a:p>
        </p:txBody>
      </p:sp>
      <p:pic>
        <p:nvPicPr>
          <p:cNvPr id="1931068546" name="Image 1" descr="preencoded.png"/>
          <p:cNvPicPr>
            <a:picLocks noChangeAspect="1"/>
          </p:cNvPicPr>
          <p:nvPr/>
        </p:nvPicPr>
        <p:blipFill rotWithShape="1">
          <a:blip r:embed="rId4"/>
          <a:stretch/>
        </p:blipFill>
        <p:spPr bwMode="auto">
          <a:xfrm>
            <a:off x="576072" y="2843784"/>
            <a:ext cx="237744" cy="237744"/>
          </a:xfrm>
          <a:prstGeom prst="rect">
            <a:avLst/>
          </a:prstGeom>
        </p:spPr>
      </p:pic>
      <p:sp>
        <p:nvSpPr>
          <p:cNvPr id="1871819644" name="Text 7"/>
          <p:cNvSpPr txBox="1"/>
          <p:nvPr/>
        </p:nvSpPr>
        <p:spPr bwMode="auto">
          <a:xfrm>
            <a:off x="1115568" y="2688336"/>
            <a:ext cx="4297680" cy="292608"/>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Use a 32 GB microSD card</a:t>
            </a:r>
            <a:endParaRPr lang="en-US" sz="1500"/>
          </a:p>
        </p:txBody>
      </p:sp>
      <p:sp>
        <p:nvSpPr>
          <p:cNvPr id="1998764299" name="Text 8"/>
          <p:cNvSpPr txBox="1"/>
          <p:nvPr/>
        </p:nvSpPr>
        <p:spPr bwMode="auto">
          <a:xfrm>
            <a:off x="1115568" y="2980944"/>
            <a:ext cx="4297680" cy="256032"/>
          </a:xfrm>
          <a:prstGeom prst="rect">
            <a:avLst/>
          </a:prstGeom>
          <a:noFill/>
          <a:ln/>
        </p:spPr>
        <p:txBody>
          <a:bodyPr wrap="square" lIns="0" tIns="0" rIns="0" bIns="0" rtlCol="0" anchor="ctr"/>
          <a:lstStyle/>
          <a:p>
            <a:pPr marL="0" indent="0">
              <a:buNone/>
              <a:defRPr/>
            </a:pPr>
            <a:r>
              <a:rPr lang="en-US" sz="1150">
                <a:solidFill>
                  <a:srgbClr val="A9B4C2"/>
                </a:solidFill>
                <a:latin typeface="Arial"/>
                <a:ea typeface="Arial"/>
                <a:cs typeface="Arial"/>
              </a:rPr>
              <a:t>Tested and working on a fresh 32 GB card</a:t>
            </a:r>
            <a:endParaRPr lang="en-US" sz="1150"/>
          </a:p>
        </p:txBody>
      </p:sp>
      <p:sp>
        <p:nvSpPr>
          <p:cNvPr id="2060294377" name="Shape 9"/>
          <p:cNvSpPr/>
          <p:nvPr/>
        </p:nvSpPr>
        <p:spPr bwMode="auto">
          <a:xfrm>
            <a:off x="457200" y="3438144"/>
            <a:ext cx="475488" cy="475488"/>
          </a:xfrm>
          <a:prstGeom prst="ellipse">
            <a:avLst/>
          </a:prstGeom>
          <a:solidFill>
            <a:srgbClr val="76B900"/>
          </a:solidFill>
          <a:ln w="12700">
            <a:solidFill>
              <a:srgbClr val="76B900"/>
            </a:solidFill>
            <a:prstDash val="solid"/>
          </a:ln>
        </p:spPr>
        <p:txBody>
          <a:bodyPr/>
          <a:p>
            <a:pPr>
              <a:defRPr/>
            </a:pPr>
            <a:endParaRPr/>
          </a:p>
        </p:txBody>
      </p:sp>
      <p:pic>
        <p:nvPicPr>
          <p:cNvPr id="29349305" name="Image 2" descr="preencoded.png"/>
          <p:cNvPicPr>
            <a:picLocks noChangeAspect="1"/>
          </p:cNvPicPr>
          <p:nvPr/>
        </p:nvPicPr>
        <p:blipFill rotWithShape="1">
          <a:blip r:embed="rId5"/>
          <a:stretch/>
        </p:blipFill>
        <p:spPr bwMode="auto">
          <a:xfrm>
            <a:off x="576072" y="3557016"/>
            <a:ext cx="237744" cy="237744"/>
          </a:xfrm>
          <a:prstGeom prst="rect">
            <a:avLst/>
          </a:prstGeom>
        </p:spPr>
      </p:pic>
      <p:sp>
        <p:nvSpPr>
          <p:cNvPr id="229859402" name="Text 10"/>
          <p:cNvSpPr txBox="1"/>
          <p:nvPr/>
        </p:nvSpPr>
        <p:spPr bwMode="auto">
          <a:xfrm>
            <a:off x="1115568" y="3401568"/>
            <a:ext cx="4297680" cy="292608"/>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Flash with Raspberry Pi Imager</a:t>
            </a:r>
            <a:endParaRPr lang="en-US" sz="1500"/>
          </a:p>
        </p:txBody>
      </p:sp>
      <p:sp>
        <p:nvSpPr>
          <p:cNvPr id="1238225238" name="Text 11"/>
          <p:cNvSpPr txBox="1"/>
          <p:nvPr/>
        </p:nvSpPr>
        <p:spPr bwMode="auto">
          <a:xfrm>
            <a:off x="1115568" y="3694176"/>
            <a:ext cx="4297680" cy="256032"/>
          </a:xfrm>
          <a:prstGeom prst="rect">
            <a:avLst/>
          </a:prstGeom>
          <a:noFill/>
          <a:ln/>
        </p:spPr>
        <p:txBody>
          <a:bodyPr wrap="square" lIns="0" tIns="0" rIns="0" bIns="0" rtlCol="0" anchor="ctr"/>
          <a:lstStyle/>
          <a:p>
            <a:pPr marL="0" indent="0">
              <a:buNone/>
              <a:defRPr/>
            </a:pPr>
            <a:r>
              <a:rPr lang="en-US" sz="1150">
                <a:solidFill>
                  <a:srgbClr val="A9B4C2"/>
                </a:solidFill>
                <a:latin typeface="Arial"/>
                <a:ea typeface="Arial"/>
                <a:cs typeface="Arial"/>
              </a:rPr>
              <a:t>Choose OS › Use custom › jetson.img.xz (no unzip)</a:t>
            </a:r>
            <a:endParaRPr lang="en-US" sz="1150"/>
          </a:p>
        </p:txBody>
      </p:sp>
      <p:sp>
        <p:nvSpPr>
          <p:cNvPr id="139060250" name="Shape 12"/>
          <p:cNvSpPr/>
          <p:nvPr/>
        </p:nvSpPr>
        <p:spPr bwMode="auto">
          <a:xfrm>
            <a:off x="457200" y="4151376"/>
            <a:ext cx="475488" cy="475488"/>
          </a:xfrm>
          <a:prstGeom prst="ellipse">
            <a:avLst/>
          </a:prstGeom>
          <a:solidFill>
            <a:srgbClr val="76B900"/>
          </a:solidFill>
          <a:ln w="12700">
            <a:solidFill>
              <a:srgbClr val="76B900"/>
            </a:solidFill>
            <a:prstDash val="solid"/>
          </a:ln>
        </p:spPr>
        <p:txBody>
          <a:bodyPr/>
          <a:p>
            <a:pPr>
              <a:defRPr/>
            </a:pPr>
            <a:endParaRPr/>
          </a:p>
        </p:txBody>
      </p:sp>
      <p:pic>
        <p:nvPicPr>
          <p:cNvPr id="812589822" name="Image 3" descr="preencoded.png"/>
          <p:cNvPicPr>
            <a:picLocks noChangeAspect="1"/>
          </p:cNvPicPr>
          <p:nvPr/>
        </p:nvPicPr>
        <p:blipFill rotWithShape="1">
          <a:blip r:embed="rId6"/>
          <a:stretch/>
        </p:blipFill>
        <p:spPr bwMode="auto">
          <a:xfrm>
            <a:off x="576072" y="4270248"/>
            <a:ext cx="237744" cy="237744"/>
          </a:xfrm>
          <a:prstGeom prst="rect">
            <a:avLst/>
          </a:prstGeom>
        </p:spPr>
      </p:pic>
      <p:sp>
        <p:nvSpPr>
          <p:cNvPr id="2070005811" name="Text 13"/>
          <p:cNvSpPr txBox="1"/>
          <p:nvPr/>
        </p:nvSpPr>
        <p:spPr bwMode="auto">
          <a:xfrm>
            <a:off x="1115568" y="4114800"/>
            <a:ext cx="4297680" cy="292608"/>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Boot and open the web UI</a:t>
            </a:r>
            <a:endParaRPr lang="en-US" sz="1500"/>
          </a:p>
        </p:txBody>
      </p:sp>
      <p:sp>
        <p:nvSpPr>
          <p:cNvPr id="1573659779" name="Text 14"/>
          <p:cNvSpPr txBox="1"/>
          <p:nvPr/>
        </p:nvSpPr>
        <p:spPr bwMode="auto">
          <a:xfrm>
            <a:off x="1115568" y="4407408"/>
            <a:ext cx="4297680" cy="256032"/>
          </a:xfrm>
          <a:prstGeom prst="rect">
            <a:avLst/>
          </a:prstGeom>
          <a:noFill/>
          <a:ln/>
        </p:spPr>
        <p:txBody>
          <a:bodyPr wrap="square" lIns="0" tIns="0" rIns="0" bIns="0" rtlCol="0" anchor="ctr"/>
          <a:lstStyle/>
          <a:p>
            <a:pPr marL="0" indent="0">
              <a:buNone/>
              <a:defRPr/>
            </a:pPr>
            <a:r>
              <a:rPr lang="en-US" sz="1150">
                <a:solidFill>
                  <a:srgbClr val="A9B4C2"/>
                </a:solidFill>
                <a:latin typeface="Arial"/>
                <a:ea typeface="Arial"/>
                <a:cs typeface="Arial"/>
              </a:rPr>
              <a:t>Power up, then browse to http://jetson-nano.local</a:t>
            </a:r>
            <a:endParaRPr lang="en-US" sz="1150"/>
          </a:p>
        </p:txBody>
      </p:sp>
      <p:sp>
        <p:nvSpPr>
          <p:cNvPr id="1362070753" name="Shape 15"/>
          <p:cNvSpPr/>
          <p:nvPr/>
        </p:nvSpPr>
        <p:spPr bwMode="auto">
          <a:xfrm>
            <a:off x="5577840" y="1965960"/>
            <a:ext cx="3108960" cy="2697480"/>
          </a:xfrm>
          <a:prstGeom prst="roundRect">
            <a:avLst>
              <a:gd name="adj" fmla="val 4068"/>
            </a:avLst>
          </a:prstGeom>
          <a:solidFill>
            <a:srgbClr val="1A2029"/>
          </a:solidFill>
          <a:ln w="12700">
            <a:solidFill>
              <a:srgbClr val="1A2029"/>
            </a:solidFill>
            <a:prstDash val="solid"/>
          </a:ln>
        </p:spPr>
        <p:txBody>
          <a:bodyPr/>
          <a:p>
            <a:pPr>
              <a:defRPr/>
            </a:pPr>
            <a:endParaRPr/>
          </a:p>
        </p:txBody>
      </p:sp>
      <p:sp>
        <p:nvSpPr>
          <p:cNvPr id="1823243535" name="Shape 16"/>
          <p:cNvSpPr/>
          <p:nvPr/>
        </p:nvSpPr>
        <p:spPr bwMode="auto">
          <a:xfrm>
            <a:off x="6195060" y="2121408"/>
            <a:ext cx="1874520" cy="1874520"/>
          </a:xfrm>
          <a:prstGeom prst="roundRect">
            <a:avLst>
              <a:gd name="adj" fmla="val 3902"/>
            </a:avLst>
          </a:prstGeom>
          <a:solidFill>
            <a:srgbClr val="FFFFFF"/>
          </a:solidFill>
          <a:ln w="12700">
            <a:solidFill>
              <a:srgbClr val="FFFFFF"/>
            </a:solidFill>
            <a:prstDash val="solid"/>
          </a:ln>
        </p:spPr>
        <p:txBody>
          <a:bodyPr/>
          <a:p>
            <a:pPr>
              <a:defRPr/>
            </a:pPr>
            <a:endParaRPr/>
          </a:p>
        </p:txBody>
      </p:sp>
      <p:pic>
        <p:nvPicPr>
          <p:cNvPr id="283405507" name="Image 4" descr="QR code: GitHub project page with the SD card image download"/>
          <p:cNvPicPr>
            <a:picLocks noChangeAspect="1"/>
          </p:cNvPicPr>
          <p:nvPr/>
        </p:nvPicPr>
        <p:blipFill rotWithShape="1">
          <a:blip r:embed="rId7"/>
          <a:stretch/>
        </p:blipFill>
        <p:spPr bwMode="auto">
          <a:xfrm>
            <a:off x="6231636" y="2157984"/>
            <a:ext cx="1801367" cy="1801367"/>
          </a:xfrm>
          <a:prstGeom prst="rect">
            <a:avLst/>
          </a:prstGeom>
        </p:spPr>
      </p:pic>
      <p:sp>
        <p:nvSpPr>
          <p:cNvPr id="1153086896" name="Text 17"/>
          <p:cNvSpPr txBox="1"/>
          <p:nvPr/>
        </p:nvSpPr>
        <p:spPr bwMode="auto">
          <a:xfrm>
            <a:off x="5577840" y="4114800"/>
            <a:ext cx="3108960" cy="274320"/>
          </a:xfrm>
          <a:prstGeom prst="rect">
            <a:avLst/>
          </a:prstGeom>
          <a:noFill/>
          <a:ln/>
        </p:spPr>
        <p:txBody>
          <a:bodyPr wrap="square" lIns="0" tIns="0" rIns="0" bIns="0" rtlCol="0" anchor="ctr"/>
          <a:lstStyle/>
          <a:p>
            <a:pPr marL="0" indent="0" algn="ctr">
              <a:buNone/>
              <a:defRPr/>
            </a:pPr>
            <a:r>
              <a:rPr lang="en-US" sz="1400" b="1">
                <a:solidFill>
                  <a:srgbClr val="FFFFFF"/>
                </a:solidFill>
                <a:latin typeface="Arial"/>
                <a:ea typeface="Arial"/>
                <a:cs typeface="Arial"/>
              </a:rPr>
              <a:t>Scan for the latest image</a:t>
            </a:r>
            <a:endParaRPr lang="en-US" sz="1400"/>
          </a:p>
        </p:txBody>
      </p:sp>
      <p:sp>
        <p:nvSpPr>
          <p:cNvPr id="1458586504" name="Text 18"/>
          <p:cNvSpPr txBox="1"/>
          <p:nvPr/>
        </p:nvSpPr>
        <p:spPr bwMode="auto">
          <a:xfrm>
            <a:off x="5577840" y="4370832"/>
            <a:ext cx="3108960" cy="201168"/>
          </a:xfrm>
          <a:prstGeom prst="rect">
            <a:avLst/>
          </a:prstGeom>
          <a:noFill/>
          <a:ln/>
        </p:spPr>
        <p:txBody>
          <a:bodyPr wrap="square" lIns="0" tIns="0" rIns="0" bIns="0" rtlCol="0" anchor="ctr"/>
          <a:lstStyle/>
          <a:p>
            <a:pPr marL="0" indent="0" algn="ctr">
              <a:buNone/>
              <a:defRPr/>
            </a:pPr>
            <a:r>
              <a:rPr lang="en-US" sz="950" u="none">
                <a:solidFill>
                  <a:srgbClr val="76B900"/>
                </a:solidFill>
                <a:latin typeface="Arial"/>
                <a:ea typeface="Arial"/>
                <a:cs typeface="Arial"/>
              </a:rPr>
              <a:t>github.com/HB9IIU/HB9IIU-Jetson-DATV-transmitter</a:t>
            </a:r>
            <a:endParaRPr lang="en-US" sz="1000"/>
          </a:p>
        </p:txBody>
      </p:sp>
      <p:pic>
        <p:nvPicPr>
          <p:cNvPr id="1214413016" name=""/>
          <p:cNvPicPr>
            <a:picLocks noChangeAspect="1"/>
          </p:cNvPicPr>
          <p:nvPr/>
        </p:nvPicPr>
        <p:blipFill rotWithShape="1">
          <a:blip r:embed="rId8"/>
          <a:stretch/>
        </p:blipFill>
        <p:spPr bwMode="auto">
          <a:xfrm flipH="0" flipV="0">
            <a:off x="6584374" y="624379"/>
            <a:ext cx="1095888" cy="114696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11</Slides>
  <Notes>11</Notes>
  <HiddenSlides>0</HiddenSlides>
  <MMClips>2</MMClips>
  <ScaleCrop>0</ScaleCrop>
  <HeadingPairs>
    <vt:vector size="4" baseType="variant">
      <vt:variant>
        <vt:lpstr>Theme</vt:lpstr>
      </vt:variant>
      <vt:variant>
        <vt:i4>1</vt:i4>
      </vt:variant>
      <vt:variant>
        <vt:lpstr>Slide Titles</vt:lpstr>
      </vt:variant>
      <vt:variant>
        <vt:i4>11</vt:i4>
      </vt:variant>
    </vt:vector>
  </HeadingPairs>
  <TitlesOfParts>
    <vt:vector size="12"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Jetson Nano DATV image</dc:title>
  <dc:subject>PptxGenJS Presentation</dc:subject>
  <dc:creator>PptxGenJS</dc:creator>
  <cp:lastModifiedBy/>
  <cp:revision>12</cp:revision>
  <dcterms:created xsi:type="dcterms:W3CDTF">2026-09-27T08:58:05Z</dcterms:created>
  <dcterms:modified xsi:type="dcterms:W3CDTF">2026-09-30T12:17:34Z</dcterms:modified>
</cp:coreProperties>
</file>